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0" r:id="rId1"/>
  </p:sldMasterIdLst>
  <p:notesMasterIdLst>
    <p:notesMasterId r:id="rId18"/>
  </p:notesMasterIdLst>
  <p:sldIdLst>
    <p:sldId id="256" r:id="rId2"/>
    <p:sldId id="257" r:id="rId3"/>
    <p:sldId id="267" r:id="rId4"/>
    <p:sldId id="280" r:id="rId5"/>
    <p:sldId id="279" r:id="rId6"/>
    <p:sldId id="275" r:id="rId7"/>
    <p:sldId id="277" r:id="rId8"/>
    <p:sldId id="269" r:id="rId9"/>
    <p:sldId id="274" r:id="rId10"/>
    <p:sldId id="278" r:id="rId11"/>
    <p:sldId id="273" r:id="rId12"/>
    <p:sldId id="270" r:id="rId13"/>
    <p:sldId id="271" r:id="rId14"/>
    <p:sldId id="272" r:id="rId15"/>
    <p:sldId id="265" r:id="rId16"/>
    <p:sldId id="266" r:id="rId1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49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62FC3C-7D38-4829-9BC3-2CBE8CF413EB}" type="datetimeFigureOut">
              <a:rPr lang="de-DE" smtClean="0"/>
              <a:t>06.06.2021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8DC9E6-953D-49B2-9105-9E4CE2D8B9F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9817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D9664-8E16-4964-B763-A256EFC0FC43}" type="datetime1">
              <a:rPr lang="de-DE" smtClean="0"/>
              <a:t>06.06.2021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Rechteck 6"/>
          <p:cNvSpPr/>
          <p:nvPr userDrawn="1"/>
        </p:nvSpPr>
        <p:spPr>
          <a:xfrm>
            <a:off x="1" y="1122363"/>
            <a:ext cx="12192000" cy="24796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1604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AC2A0-CEAF-4A02-A7C8-41043D91283A}" type="datetime1">
              <a:rPr lang="de-DE" smtClean="0"/>
              <a:t>06.06.2021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1177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430D4-D963-4229-9782-66CBD25EFA52}" type="datetime1">
              <a:rPr lang="de-DE" smtClean="0"/>
              <a:t>06.06.2021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7733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E9D27-13E8-4198-8A5A-354C9E832E3B}" type="datetime1">
              <a:rPr lang="de-DE" smtClean="0"/>
              <a:t>06.06.2021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3201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7BF9B-7546-4CE5-AFF2-8697241E3E06}" type="datetime1">
              <a:rPr lang="de-DE" smtClean="0"/>
              <a:t>06.06.2021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2617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F8029-E8C4-4B9F-A2B7-6B77C0664E0A}" type="datetime1">
              <a:rPr lang="de-DE" smtClean="0"/>
              <a:t>06.06.2021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046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20C63-149E-4464-BF2B-98A675E601F0}" type="datetime1">
              <a:rPr lang="de-DE" smtClean="0"/>
              <a:t>06.06.2021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4734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342E4-09EB-4FFF-B06F-730EE78061B4}" type="datetime1">
              <a:rPr lang="de-DE" smtClean="0"/>
              <a:t>06.06.2021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4817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AEFF4-E62B-4E5C-853F-7E51C47530FC}" type="datetime1">
              <a:rPr lang="de-DE" smtClean="0"/>
              <a:t>06.06.2021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934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73850-DCB7-4FC8-9407-BA6D9F3590BC}" type="datetime1">
              <a:rPr lang="de-DE" smtClean="0"/>
              <a:t>06.06.2021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7887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265D3-0E97-4D9F-A6CE-BC38290D5412}" type="datetime1">
              <a:rPr lang="de-DE" smtClean="0"/>
              <a:t>06.06.2021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4230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6EAC8-8EDF-4B57-BFB0-7DCF4E71DF18}" type="datetime1">
              <a:rPr lang="de-DE" smtClean="0"/>
              <a:t>06.06.2021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1A007C-F580-4FCE-902E-6189D8624F0F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Rechteck 6"/>
          <p:cNvSpPr/>
          <p:nvPr userDrawn="1"/>
        </p:nvSpPr>
        <p:spPr>
          <a:xfrm>
            <a:off x="10443410" y="0"/>
            <a:ext cx="1748590" cy="6497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Picture 6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6930" y="75635"/>
            <a:ext cx="1557742" cy="473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9" name="Rechteck 8"/>
          <p:cNvSpPr/>
          <p:nvPr userDrawn="1"/>
        </p:nvSpPr>
        <p:spPr>
          <a:xfrm>
            <a:off x="0" y="1"/>
            <a:ext cx="10443411" cy="5486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1303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de-DE" b="1" dirty="0"/>
              <a:t>Data Distribution Service (DDS)</a:t>
            </a:r>
            <a:r>
              <a:rPr lang="de-DE" b="1" dirty="0" smtClean="0"/>
              <a:t/>
            </a:r>
            <a:br>
              <a:rPr lang="de-DE" b="1" dirty="0" smtClean="0"/>
            </a:br>
            <a:endParaRPr lang="de-DE" b="1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de-DE" dirty="0" smtClean="0"/>
              <a:t>09.06.2021</a:t>
            </a:r>
          </a:p>
          <a:p>
            <a:pPr algn="r"/>
            <a:r>
              <a:rPr lang="de-DE" dirty="0" smtClean="0"/>
              <a:t>Christian Adolph</a:t>
            </a:r>
          </a:p>
          <a:p>
            <a:pPr algn="r"/>
            <a:r>
              <a:rPr lang="de-DE" dirty="0" smtClean="0"/>
              <a:t>Julian P. Kaatz</a:t>
            </a:r>
          </a:p>
        </p:txBody>
      </p:sp>
    </p:spTree>
    <p:extLst>
      <p:ext uri="{BB962C8B-B14F-4D97-AF65-F5344CB8AC3E}">
        <p14:creationId xmlns:p14="http://schemas.microsoft.com/office/powerpoint/2010/main" val="352514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Agenda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1851025"/>
            <a:ext cx="10515600" cy="4351338"/>
          </a:xfrm>
        </p:spPr>
        <p:txBody>
          <a:bodyPr/>
          <a:lstStyle/>
          <a:p>
            <a:r>
              <a:rPr lang="de-DE" dirty="0" smtClean="0"/>
              <a:t>Was ist DDS?</a:t>
            </a:r>
          </a:p>
          <a:p>
            <a:r>
              <a:rPr lang="de-DE" dirty="0" smtClean="0"/>
              <a:t>Architektur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 smtClean="0"/>
              <a:t>Implementierungen</a:t>
            </a:r>
          </a:p>
          <a:p>
            <a:r>
              <a:rPr lang="de-DE" dirty="0" smtClean="0"/>
              <a:t>Zusammenfassung</a:t>
            </a:r>
          </a:p>
          <a:p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3195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Was ist DDS?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Data Distribution Service </a:t>
            </a:r>
            <a:r>
              <a:rPr lang="de-DE" dirty="0" err="1" smtClean="0"/>
              <a:t>for</a:t>
            </a:r>
            <a:r>
              <a:rPr lang="de-DE" dirty="0" smtClean="0"/>
              <a:t> Real-Time Systems</a:t>
            </a:r>
          </a:p>
          <a:p>
            <a:pPr lvl="1"/>
            <a:r>
              <a:rPr lang="de-DE" dirty="0" smtClean="0"/>
              <a:t>Standard der OMG Group (die von UML…)</a:t>
            </a:r>
          </a:p>
          <a:p>
            <a:r>
              <a:rPr lang="de-DE" dirty="0" smtClean="0"/>
              <a:t>ist eine Middleware (bzw. </a:t>
            </a:r>
            <a:r>
              <a:rPr lang="de-DE" dirty="0"/>
              <a:t>C</a:t>
            </a:r>
            <a:r>
              <a:rPr lang="de-DE" dirty="0" smtClean="0"/>
              <a:t>onnectivity Framework)</a:t>
            </a:r>
          </a:p>
          <a:p>
            <a:pPr lvl="1"/>
            <a:r>
              <a:rPr lang="de-DE" dirty="0" smtClean="0"/>
              <a:t>kennen wir bereits (</a:t>
            </a:r>
            <a:r>
              <a:rPr lang="de-DE" dirty="0" smtClean="0">
                <a:sym typeface="Wingdings" panose="05000000000000000000" pitchFamily="2" charset="2"/>
              </a:rPr>
              <a:t> Folie)</a:t>
            </a:r>
            <a:endParaRPr lang="de-DE" dirty="0" smtClean="0"/>
          </a:p>
          <a:p>
            <a:r>
              <a:rPr lang="de-DE" dirty="0" smtClean="0"/>
              <a:t>nutzt </a:t>
            </a:r>
            <a:r>
              <a:rPr lang="de-DE" dirty="0" err="1" smtClean="0"/>
              <a:t>Publish</a:t>
            </a:r>
            <a:r>
              <a:rPr lang="de-DE" dirty="0" smtClean="0"/>
              <a:t>/</a:t>
            </a:r>
            <a:r>
              <a:rPr lang="de-DE" dirty="0" err="1" smtClean="0"/>
              <a:t>Subscribe</a:t>
            </a:r>
            <a:endParaRPr lang="de-DE" dirty="0" smtClean="0"/>
          </a:p>
          <a:p>
            <a:pPr lvl="1"/>
            <a:r>
              <a:rPr lang="de-DE" dirty="0" smtClean="0"/>
              <a:t>kennen wir auch schon ( </a:t>
            </a:r>
            <a:r>
              <a:rPr lang="de-DE" dirty="0" smtClean="0">
                <a:sym typeface="Wingdings" panose="05000000000000000000" pitchFamily="2" charset="2"/>
              </a:rPr>
              <a:t> Folie)</a:t>
            </a:r>
            <a:endParaRPr lang="de-DE" dirty="0" smtClean="0"/>
          </a:p>
          <a:p>
            <a:r>
              <a:rPr lang="de-DE" dirty="0" smtClean="0"/>
              <a:t>neu</a:t>
            </a:r>
            <a:r>
              <a:rPr lang="de-DE" b="1" dirty="0" smtClean="0"/>
              <a:t> Data-</a:t>
            </a:r>
            <a:r>
              <a:rPr lang="de-DE" b="1" dirty="0" err="1" smtClean="0"/>
              <a:t>Centric</a:t>
            </a:r>
            <a:r>
              <a:rPr lang="de-DE" b="1" dirty="0" smtClean="0"/>
              <a:t> </a:t>
            </a:r>
          </a:p>
          <a:p>
            <a:pPr lvl="1"/>
            <a:r>
              <a:rPr lang="de-DE" b="1" dirty="0"/>
              <a:t>?</a:t>
            </a:r>
            <a:endParaRPr lang="de-DE" dirty="0" smtClean="0"/>
          </a:p>
          <a:p>
            <a:pPr lvl="1"/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smtClean="0"/>
              <a:t>C. Adolph - J.P. Kaatz - 2021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3</a:t>
            </a:fld>
            <a:endParaRPr lang="de-DE"/>
          </a:p>
        </p:txBody>
      </p:sp>
      <p:sp>
        <p:nvSpPr>
          <p:cNvPr id="6" name="Textfeld 5"/>
          <p:cNvSpPr txBox="1"/>
          <p:nvPr/>
        </p:nvSpPr>
        <p:spPr>
          <a:xfrm>
            <a:off x="5628170" y="4793774"/>
            <a:ext cx="66735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The purpose of the DDS specification can be summarized as </a:t>
            </a:r>
            <a:endParaRPr lang="en-US" i="1" dirty="0" smtClean="0"/>
          </a:p>
          <a:p>
            <a:r>
              <a:rPr lang="en-US" i="1" dirty="0" smtClean="0"/>
              <a:t>enabling </a:t>
            </a:r>
            <a:r>
              <a:rPr lang="en-US" i="1" dirty="0"/>
              <a:t>the Efficient and Robust Delivery of the Right Information to </a:t>
            </a:r>
            <a:endParaRPr lang="en-US" i="1" dirty="0" smtClean="0"/>
          </a:p>
          <a:p>
            <a:r>
              <a:rPr lang="en-US" i="1" dirty="0" smtClean="0"/>
              <a:t>the </a:t>
            </a:r>
            <a:r>
              <a:rPr lang="en-US" i="1" dirty="0"/>
              <a:t>Right Place at the Right Time</a:t>
            </a:r>
            <a:r>
              <a:rPr lang="en-US" dirty="0"/>
              <a:t>"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42125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Netzwerkevolution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4</a:t>
            </a:fld>
            <a:endParaRPr lang="de-DE"/>
          </a:p>
        </p:txBody>
      </p:sp>
      <p:sp>
        <p:nvSpPr>
          <p:cNvPr id="6" name="Textfeld 5"/>
          <p:cNvSpPr txBox="1"/>
          <p:nvPr/>
        </p:nvSpPr>
        <p:spPr>
          <a:xfrm>
            <a:off x="962108" y="2184139"/>
            <a:ext cx="1887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Point-</a:t>
            </a:r>
            <a:r>
              <a:rPr lang="de-DE" dirty="0" err="1" smtClean="0"/>
              <a:t>to</a:t>
            </a:r>
            <a:r>
              <a:rPr lang="de-DE" dirty="0" smtClean="0"/>
              <a:t>-Point</a:t>
            </a:r>
            <a:endParaRPr lang="de-DE" dirty="0"/>
          </a:p>
        </p:txBody>
      </p:sp>
      <p:sp>
        <p:nvSpPr>
          <p:cNvPr id="7" name="Textfeld 6"/>
          <p:cNvSpPr txBox="1"/>
          <p:nvPr/>
        </p:nvSpPr>
        <p:spPr>
          <a:xfrm>
            <a:off x="3211706" y="2184139"/>
            <a:ext cx="1887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Client-Server</a:t>
            </a:r>
            <a:endParaRPr lang="de-DE" dirty="0"/>
          </a:p>
        </p:txBody>
      </p:sp>
      <p:sp>
        <p:nvSpPr>
          <p:cNvPr id="8" name="Textfeld 7"/>
          <p:cNvSpPr txBox="1"/>
          <p:nvPr/>
        </p:nvSpPr>
        <p:spPr>
          <a:xfrm>
            <a:off x="5363623" y="2189528"/>
            <a:ext cx="1887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 smtClean="0"/>
              <a:t>Publish</a:t>
            </a:r>
            <a:r>
              <a:rPr lang="de-DE" dirty="0" smtClean="0"/>
              <a:t>/</a:t>
            </a:r>
            <a:r>
              <a:rPr lang="de-DE" dirty="0" err="1" smtClean="0"/>
              <a:t>Subscribe</a:t>
            </a:r>
            <a:endParaRPr lang="de-DE" dirty="0"/>
          </a:p>
        </p:txBody>
      </p:sp>
      <p:sp>
        <p:nvSpPr>
          <p:cNvPr id="9" name="Textfeld 8"/>
          <p:cNvSpPr txBox="1"/>
          <p:nvPr/>
        </p:nvSpPr>
        <p:spPr>
          <a:xfrm>
            <a:off x="7710902" y="2190844"/>
            <a:ext cx="1067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Queuing</a:t>
            </a:r>
            <a:endParaRPr lang="de-DE" dirty="0"/>
          </a:p>
        </p:txBody>
      </p:sp>
      <p:sp>
        <p:nvSpPr>
          <p:cNvPr id="10" name="Textfeld 9"/>
          <p:cNvSpPr txBox="1"/>
          <p:nvPr/>
        </p:nvSpPr>
        <p:spPr>
          <a:xfrm>
            <a:off x="9591199" y="2191075"/>
            <a:ext cx="1379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Data-</a:t>
            </a:r>
            <a:r>
              <a:rPr lang="de-DE" dirty="0" err="1" smtClean="0"/>
              <a:t>Centric</a:t>
            </a:r>
            <a:endParaRPr lang="de-DE" dirty="0"/>
          </a:p>
        </p:txBody>
      </p:sp>
      <p:grpSp>
        <p:nvGrpSpPr>
          <p:cNvPr id="75" name="Gruppieren 74"/>
          <p:cNvGrpSpPr/>
          <p:nvPr/>
        </p:nvGrpSpPr>
        <p:grpSpPr>
          <a:xfrm>
            <a:off x="888277" y="2732392"/>
            <a:ext cx="1605371" cy="1451008"/>
            <a:chOff x="1254035" y="2845609"/>
            <a:chExt cx="1605371" cy="1451008"/>
          </a:xfrm>
        </p:grpSpPr>
        <p:sp>
          <p:nvSpPr>
            <p:cNvPr id="11" name="Ellipse 10"/>
            <p:cNvSpPr/>
            <p:nvPr/>
          </p:nvSpPr>
          <p:spPr>
            <a:xfrm>
              <a:off x="1254035" y="2845609"/>
              <a:ext cx="313508" cy="3135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Ellipse 11"/>
            <p:cNvSpPr/>
            <p:nvPr/>
          </p:nvSpPr>
          <p:spPr>
            <a:xfrm>
              <a:off x="1254035" y="3983109"/>
              <a:ext cx="313508" cy="3135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Ellipse 12"/>
            <p:cNvSpPr/>
            <p:nvPr/>
          </p:nvSpPr>
          <p:spPr>
            <a:xfrm>
              <a:off x="2545898" y="2845609"/>
              <a:ext cx="313508" cy="3135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" name="Ellipse 23"/>
            <p:cNvSpPr/>
            <p:nvPr/>
          </p:nvSpPr>
          <p:spPr>
            <a:xfrm>
              <a:off x="2545898" y="3983109"/>
              <a:ext cx="313508" cy="3135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6" name="Gerade Verbindung mit Pfeil 25"/>
            <p:cNvCxnSpPr>
              <a:stCxn id="11" idx="6"/>
              <a:endCxn id="13" idx="2"/>
            </p:cNvCxnSpPr>
            <p:nvPr/>
          </p:nvCxnSpPr>
          <p:spPr>
            <a:xfrm>
              <a:off x="1567543" y="3002363"/>
              <a:ext cx="97835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 Verbindung mit Pfeil 27"/>
            <p:cNvCxnSpPr>
              <a:stCxn id="11" idx="4"/>
              <a:endCxn id="12" idx="0"/>
            </p:cNvCxnSpPr>
            <p:nvPr/>
          </p:nvCxnSpPr>
          <p:spPr>
            <a:xfrm>
              <a:off x="1410789" y="3159117"/>
              <a:ext cx="0" cy="8239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 Verbindung mit Pfeil 29"/>
            <p:cNvCxnSpPr>
              <a:stCxn id="12" idx="7"/>
              <a:endCxn id="13" idx="3"/>
            </p:cNvCxnSpPr>
            <p:nvPr/>
          </p:nvCxnSpPr>
          <p:spPr>
            <a:xfrm flipV="1">
              <a:off x="1521631" y="3113205"/>
              <a:ext cx="1070179" cy="9158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 Verbindung mit Pfeil 31"/>
            <p:cNvCxnSpPr>
              <a:stCxn id="13" idx="4"/>
              <a:endCxn id="24" idx="0"/>
            </p:cNvCxnSpPr>
            <p:nvPr/>
          </p:nvCxnSpPr>
          <p:spPr>
            <a:xfrm>
              <a:off x="2702652" y="3159117"/>
              <a:ext cx="0" cy="8239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 Verbindung mit Pfeil 33"/>
            <p:cNvCxnSpPr>
              <a:stCxn id="24" idx="1"/>
              <a:endCxn id="11" idx="5"/>
            </p:cNvCxnSpPr>
            <p:nvPr/>
          </p:nvCxnSpPr>
          <p:spPr>
            <a:xfrm flipH="1" flipV="1">
              <a:off x="1521631" y="3113205"/>
              <a:ext cx="1070179" cy="9158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Rechteck 58"/>
            <p:cNvSpPr/>
            <p:nvPr/>
          </p:nvSpPr>
          <p:spPr>
            <a:xfrm>
              <a:off x="2616150" y="2961088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0" name="Rechteck 59"/>
            <p:cNvSpPr/>
            <p:nvPr/>
          </p:nvSpPr>
          <p:spPr>
            <a:xfrm>
              <a:off x="1317127" y="2966647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" name="Rechteck 60"/>
            <p:cNvSpPr/>
            <p:nvPr/>
          </p:nvSpPr>
          <p:spPr>
            <a:xfrm>
              <a:off x="2608989" y="4105380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" name="Rechteck 61"/>
            <p:cNvSpPr/>
            <p:nvPr/>
          </p:nvSpPr>
          <p:spPr>
            <a:xfrm>
              <a:off x="1315858" y="4115347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76" name="Gruppieren 75"/>
          <p:cNvGrpSpPr/>
          <p:nvPr/>
        </p:nvGrpSpPr>
        <p:grpSpPr>
          <a:xfrm>
            <a:off x="3208355" y="2863027"/>
            <a:ext cx="1329495" cy="1183412"/>
            <a:chOff x="3556695" y="2845609"/>
            <a:chExt cx="1329495" cy="1183412"/>
          </a:xfrm>
        </p:grpSpPr>
        <p:sp>
          <p:nvSpPr>
            <p:cNvPr id="14" name="Ellipse 13"/>
            <p:cNvSpPr/>
            <p:nvPr/>
          </p:nvSpPr>
          <p:spPr>
            <a:xfrm>
              <a:off x="3556695" y="2845609"/>
              <a:ext cx="313508" cy="3135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" name="Ellipse 14"/>
            <p:cNvSpPr/>
            <p:nvPr/>
          </p:nvSpPr>
          <p:spPr>
            <a:xfrm>
              <a:off x="4572682" y="2845609"/>
              <a:ext cx="313508" cy="3135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Rechteck 15"/>
            <p:cNvSpPr/>
            <p:nvPr/>
          </p:nvSpPr>
          <p:spPr>
            <a:xfrm>
              <a:off x="3886874" y="3645686"/>
              <a:ext cx="685808" cy="38333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6" name="Gerade Verbindung mit Pfeil 35"/>
            <p:cNvCxnSpPr>
              <a:stCxn id="14" idx="5"/>
            </p:cNvCxnSpPr>
            <p:nvPr/>
          </p:nvCxnSpPr>
          <p:spPr>
            <a:xfrm>
              <a:off x="3824291" y="3113205"/>
              <a:ext cx="249089" cy="5268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 Verbindung mit Pfeil 37"/>
            <p:cNvCxnSpPr>
              <a:stCxn id="15" idx="3"/>
            </p:cNvCxnSpPr>
            <p:nvPr/>
          </p:nvCxnSpPr>
          <p:spPr>
            <a:xfrm flipH="1">
              <a:off x="4423918" y="3113205"/>
              <a:ext cx="194676" cy="5268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Rechteck 62"/>
            <p:cNvSpPr/>
            <p:nvPr/>
          </p:nvSpPr>
          <p:spPr>
            <a:xfrm>
              <a:off x="3619786" y="2961088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" name="Rechteck 63"/>
            <p:cNvSpPr/>
            <p:nvPr/>
          </p:nvSpPr>
          <p:spPr>
            <a:xfrm>
              <a:off x="4635773" y="2959573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77" name="Gruppieren 76"/>
          <p:cNvGrpSpPr/>
          <p:nvPr/>
        </p:nvGrpSpPr>
        <p:grpSpPr>
          <a:xfrm>
            <a:off x="5525202" y="2880767"/>
            <a:ext cx="1358024" cy="1043676"/>
            <a:chOff x="5829997" y="2793677"/>
            <a:chExt cx="1358024" cy="1043676"/>
          </a:xfrm>
        </p:grpSpPr>
        <p:sp>
          <p:nvSpPr>
            <p:cNvPr id="17" name="Ellipse 16"/>
            <p:cNvSpPr/>
            <p:nvPr/>
          </p:nvSpPr>
          <p:spPr>
            <a:xfrm>
              <a:off x="6375772" y="2793677"/>
              <a:ext cx="313508" cy="3135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Ellipse 17"/>
            <p:cNvSpPr/>
            <p:nvPr/>
          </p:nvSpPr>
          <p:spPr>
            <a:xfrm>
              <a:off x="5829997" y="3523845"/>
              <a:ext cx="313508" cy="3135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Ellipse 18"/>
            <p:cNvSpPr/>
            <p:nvPr/>
          </p:nvSpPr>
          <p:spPr>
            <a:xfrm>
              <a:off x="6874513" y="3523845"/>
              <a:ext cx="313508" cy="3135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7" name="Gerade Verbindung mit Pfeil 46"/>
            <p:cNvCxnSpPr>
              <a:stCxn id="17" idx="3"/>
              <a:endCxn id="18" idx="7"/>
            </p:cNvCxnSpPr>
            <p:nvPr/>
          </p:nvCxnSpPr>
          <p:spPr>
            <a:xfrm flipH="1">
              <a:off x="6097593" y="3061273"/>
              <a:ext cx="324091" cy="5084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 Verbindung mit Pfeil 48"/>
            <p:cNvCxnSpPr>
              <a:stCxn id="17" idx="5"/>
              <a:endCxn id="19" idx="1"/>
            </p:cNvCxnSpPr>
            <p:nvPr/>
          </p:nvCxnSpPr>
          <p:spPr>
            <a:xfrm>
              <a:off x="6643368" y="3061273"/>
              <a:ext cx="277057" cy="5084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Rechteck 64"/>
            <p:cNvSpPr/>
            <p:nvPr/>
          </p:nvSpPr>
          <p:spPr>
            <a:xfrm>
              <a:off x="6937981" y="3640073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6" name="Rechteck 65"/>
            <p:cNvSpPr/>
            <p:nvPr/>
          </p:nvSpPr>
          <p:spPr>
            <a:xfrm>
              <a:off x="5893088" y="3640766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7" name="Rechteck 66"/>
            <p:cNvSpPr/>
            <p:nvPr/>
          </p:nvSpPr>
          <p:spPr>
            <a:xfrm>
              <a:off x="6438863" y="2909156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78" name="Gruppieren 77"/>
          <p:cNvGrpSpPr/>
          <p:nvPr/>
        </p:nvGrpSpPr>
        <p:grpSpPr>
          <a:xfrm>
            <a:off x="7576924" y="2915595"/>
            <a:ext cx="1300944" cy="929639"/>
            <a:chOff x="7890428" y="2950431"/>
            <a:chExt cx="1300944" cy="929639"/>
          </a:xfrm>
        </p:grpSpPr>
        <p:sp>
          <p:nvSpPr>
            <p:cNvPr id="20" name="Ellipse 19"/>
            <p:cNvSpPr/>
            <p:nvPr/>
          </p:nvSpPr>
          <p:spPr>
            <a:xfrm>
              <a:off x="7900683" y="2950431"/>
              <a:ext cx="313508" cy="3135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Ellipse 20"/>
            <p:cNvSpPr/>
            <p:nvPr/>
          </p:nvSpPr>
          <p:spPr>
            <a:xfrm>
              <a:off x="7890428" y="3566562"/>
              <a:ext cx="313508" cy="3135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Ellipse 21"/>
            <p:cNvSpPr/>
            <p:nvPr/>
          </p:nvSpPr>
          <p:spPr>
            <a:xfrm>
              <a:off x="8877864" y="3210337"/>
              <a:ext cx="313508" cy="3135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" name="Pfeil nach rechts 49"/>
            <p:cNvSpPr/>
            <p:nvPr/>
          </p:nvSpPr>
          <p:spPr>
            <a:xfrm>
              <a:off x="8498062" y="3296286"/>
              <a:ext cx="191581" cy="14161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52" name="Gerade Verbindung mit Pfeil 51"/>
            <p:cNvCxnSpPr>
              <a:stCxn id="50" idx="3"/>
              <a:endCxn id="22" idx="2"/>
            </p:cNvCxnSpPr>
            <p:nvPr/>
          </p:nvCxnSpPr>
          <p:spPr>
            <a:xfrm>
              <a:off x="8689643" y="3367091"/>
              <a:ext cx="18822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 Verbindung mit Pfeil 53"/>
            <p:cNvCxnSpPr>
              <a:stCxn id="21" idx="6"/>
              <a:endCxn id="50" idx="1"/>
            </p:cNvCxnSpPr>
            <p:nvPr/>
          </p:nvCxnSpPr>
          <p:spPr>
            <a:xfrm flipV="1">
              <a:off x="8203936" y="3367091"/>
              <a:ext cx="294126" cy="3562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 Verbindung mit Pfeil 55"/>
            <p:cNvCxnSpPr>
              <a:stCxn id="20" idx="6"/>
              <a:endCxn id="50" idx="1"/>
            </p:cNvCxnSpPr>
            <p:nvPr/>
          </p:nvCxnSpPr>
          <p:spPr>
            <a:xfrm>
              <a:off x="8214191" y="3107185"/>
              <a:ext cx="283871" cy="2599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Rechteck 67"/>
            <p:cNvSpPr/>
            <p:nvPr/>
          </p:nvSpPr>
          <p:spPr>
            <a:xfrm>
              <a:off x="7963774" y="3063758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" name="Rechteck 68"/>
            <p:cNvSpPr/>
            <p:nvPr/>
          </p:nvSpPr>
          <p:spPr>
            <a:xfrm>
              <a:off x="7954716" y="3680599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0" name="Rechteck 69"/>
            <p:cNvSpPr/>
            <p:nvPr/>
          </p:nvSpPr>
          <p:spPr>
            <a:xfrm>
              <a:off x="8938246" y="3326928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79" name="Gruppieren 78"/>
          <p:cNvGrpSpPr/>
          <p:nvPr/>
        </p:nvGrpSpPr>
        <p:grpSpPr>
          <a:xfrm>
            <a:off x="9429117" y="2935980"/>
            <a:ext cx="1711984" cy="872148"/>
            <a:chOff x="9794875" y="3049197"/>
            <a:chExt cx="1711984" cy="872148"/>
          </a:xfrm>
        </p:grpSpPr>
        <p:sp>
          <p:nvSpPr>
            <p:cNvPr id="23" name="Rechteck 22"/>
            <p:cNvSpPr/>
            <p:nvPr/>
          </p:nvSpPr>
          <p:spPr>
            <a:xfrm>
              <a:off x="9990843" y="3049197"/>
              <a:ext cx="1322605" cy="77739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 dirty="0" smtClean="0"/>
                <a:t>Datenmodell</a:t>
              </a:r>
            </a:p>
            <a:p>
              <a:pPr algn="ctr"/>
              <a:endParaRPr lang="de-DE" sz="1200" dirty="0"/>
            </a:p>
            <a:p>
              <a:pPr algn="ctr"/>
              <a:endParaRPr lang="de-DE" sz="1200" dirty="0" smtClean="0"/>
            </a:p>
            <a:p>
              <a:pPr algn="ctr"/>
              <a:endParaRPr lang="de-DE" sz="1200" dirty="0"/>
            </a:p>
          </p:txBody>
        </p:sp>
        <p:sp>
          <p:nvSpPr>
            <p:cNvPr id="58" name="Pfeil nach links und rechts 57"/>
            <p:cNvSpPr/>
            <p:nvPr/>
          </p:nvSpPr>
          <p:spPr>
            <a:xfrm>
              <a:off x="10179169" y="3536902"/>
              <a:ext cx="945952" cy="158117"/>
            </a:xfrm>
            <a:prstGeom prst="leftRightArrow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800" dirty="0" smtClean="0">
                  <a:solidFill>
                    <a:schemeClr val="tx1"/>
                  </a:solidFill>
                </a:rPr>
                <a:t>BUS</a:t>
              </a:r>
              <a:endParaRPr lang="de-DE" sz="800" dirty="0">
                <a:solidFill>
                  <a:schemeClr val="tx1"/>
                </a:solidFill>
              </a:endParaRPr>
            </a:p>
          </p:txBody>
        </p:sp>
        <p:sp>
          <p:nvSpPr>
            <p:cNvPr id="71" name="Rechteck 70"/>
            <p:cNvSpPr/>
            <p:nvPr/>
          </p:nvSpPr>
          <p:spPr>
            <a:xfrm>
              <a:off x="10999807" y="3838795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2" name="Rechteck 71"/>
            <p:cNvSpPr/>
            <p:nvPr/>
          </p:nvSpPr>
          <p:spPr>
            <a:xfrm>
              <a:off x="9794875" y="3396620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3" name="Rechteck 72"/>
            <p:cNvSpPr/>
            <p:nvPr/>
          </p:nvSpPr>
          <p:spPr>
            <a:xfrm>
              <a:off x="11319534" y="3376639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4" name="Rechteck 73"/>
            <p:cNvSpPr/>
            <p:nvPr/>
          </p:nvSpPr>
          <p:spPr>
            <a:xfrm>
              <a:off x="10144777" y="3838795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80" name="Textfeld 79"/>
          <p:cNvSpPr txBox="1"/>
          <p:nvPr/>
        </p:nvSpPr>
        <p:spPr>
          <a:xfrm>
            <a:off x="1155873" y="4517316"/>
            <a:ext cx="11994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TCP</a:t>
            </a:r>
          </a:p>
          <a:p>
            <a:r>
              <a:rPr lang="de-DE" dirty="0" smtClean="0"/>
              <a:t>Sockets</a:t>
            </a:r>
            <a:endParaRPr lang="de-DE" dirty="0"/>
          </a:p>
        </p:txBody>
      </p:sp>
      <p:sp>
        <p:nvSpPr>
          <p:cNvPr id="81" name="Textfeld 80"/>
          <p:cNvSpPr txBox="1"/>
          <p:nvPr/>
        </p:nvSpPr>
        <p:spPr>
          <a:xfrm>
            <a:off x="3475951" y="4517316"/>
            <a:ext cx="9373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MQTT</a:t>
            </a:r>
          </a:p>
          <a:p>
            <a:r>
              <a:rPr lang="de-DE" dirty="0" smtClean="0"/>
              <a:t>XMPP</a:t>
            </a:r>
          </a:p>
          <a:p>
            <a:r>
              <a:rPr lang="de-DE" dirty="0" smtClean="0"/>
              <a:t>OPC UA</a:t>
            </a:r>
          </a:p>
          <a:p>
            <a:r>
              <a:rPr lang="de-DE" dirty="0" smtClean="0"/>
              <a:t>CORBA</a:t>
            </a:r>
            <a:endParaRPr lang="de-DE" dirty="0"/>
          </a:p>
        </p:txBody>
      </p:sp>
      <p:sp>
        <p:nvSpPr>
          <p:cNvPr id="82" name="Textfeld 81"/>
          <p:cNvSpPr txBox="1"/>
          <p:nvPr/>
        </p:nvSpPr>
        <p:spPr>
          <a:xfrm>
            <a:off x="5722356" y="4443785"/>
            <a:ext cx="13284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CAN BUS</a:t>
            </a:r>
          </a:p>
          <a:p>
            <a:r>
              <a:rPr lang="de-DE" dirty="0" smtClean="0"/>
              <a:t>SOME/IP</a:t>
            </a:r>
          </a:p>
          <a:p>
            <a:r>
              <a:rPr lang="de-DE" dirty="0" smtClean="0"/>
              <a:t>OPC UA</a:t>
            </a:r>
          </a:p>
          <a:p>
            <a:r>
              <a:rPr lang="de-DE" dirty="0" smtClean="0"/>
              <a:t>Zero MQ</a:t>
            </a:r>
          </a:p>
          <a:p>
            <a:r>
              <a:rPr lang="de-DE" dirty="0" smtClean="0"/>
              <a:t>JMS</a:t>
            </a:r>
            <a:endParaRPr lang="de-DE" dirty="0"/>
          </a:p>
        </p:txBody>
      </p:sp>
      <p:sp>
        <p:nvSpPr>
          <p:cNvPr id="83" name="Textfeld 82"/>
          <p:cNvSpPr txBox="1"/>
          <p:nvPr/>
        </p:nvSpPr>
        <p:spPr>
          <a:xfrm>
            <a:off x="7776163" y="4427219"/>
            <a:ext cx="9373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NATS.io</a:t>
            </a:r>
          </a:p>
          <a:p>
            <a:r>
              <a:rPr lang="de-DE" dirty="0" smtClean="0"/>
              <a:t>AMQP</a:t>
            </a:r>
          </a:p>
          <a:p>
            <a:endParaRPr lang="de-DE" dirty="0" smtClean="0"/>
          </a:p>
          <a:p>
            <a:endParaRPr lang="de-DE" dirty="0"/>
          </a:p>
        </p:txBody>
      </p:sp>
      <p:sp>
        <p:nvSpPr>
          <p:cNvPr id="84" name="Textfeld 83"/>
          <p:cNvSpPr txBox="1"/>
          <p:nvPr/>
        </p:nvSpPr>
        <p:spPr>
          <a:xfrm>
            <a:off x="10010335" y="4425734"/>
            <a:ext cx="937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DDS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98446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Data-</a:t>
            </a:r>
            <a:r>
              <a:rPr lang="de-DE" b="1" dirty="0" err="1"/>
              <a:t>Centric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5</a:t>
            </a:fld>
            <a:endParaRPr lang="de-DE"/>
          </a:p>
        </p:txBody>
      </p:sp>
      <p:grpSp>
        <p:nvGrpSpPr>
          <p:cNvPr id="6" name="Gruppieren 5"/>
          <p:cNvGrpSpPr/>
          <p:nvPr/>
        </p:nvGrpSpPr>
        <p:grpSpPr>
          <a:xfrm>
            <a:off x="7612442" y="2095308"/>
            <a:ext cx="3741358" cy="1905986"/>
            <a:chOff x="9794875" y="3049197"/>
            <a:chExt cx="1711984" cy="872148"/>
          </a:xfrm>
        </p:grpSpPr>
        <p:sp>
          <p:nvSpPr>
            <p:cNvPr id="7" name="Rechteck 6"/>
            <p:cNvSpPr/>
            <p:nvPr/>
          </p:nvSpPr>
          <p:spPr>
            <a:xfrm>
              <a:off x="9990843" y="3049197"/>
              <a:ext cx="1322605" cy="77739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 dirty="0" smtClean="0"/>
                <a:t>Datenmodell</a:t>
              </a:r>
            </a:p>
            <a:p>
              <a:pPr algn="ctr"/>
              <a:endParaRPr lang="de-DE" sz="1200" dirty="0"/>
            </a:p>
            <a:p>
              <a:pPr algn="ctr"/>
              <a:endParaRPr lang="de-DE" sz="1200" dirty="0" smtClean="0"/>
            </a:p>
            <a:p>
              <a:pPr algn="ctr"/>
              <a:endParaRPr lang="de-DE" sz="1200" dirty="0"/>
            </a:p>
          </p:txBody>
        </p:sp>
        <p:sp>
          <p:nvSpPr>
            <p:cNvPr id="8" name="Pfeil nach links und rechts 7"/>
            <p:cNvSpPr/>
            <p:nvPr/>
          </p:nvSpPr>
          <p:spPr>
            <a:xfrm>
              <a:off x="10179169" y="3536902"/>
              <a:ext cx="945952" cy="158117"/>
            </a:xfrm>
            <a:prstGeom prst="leftRightArrow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800" dirty="0" smtClean="0">
                  <a:solidFill>
                    <a:schemeClr val="tx1"/>
                  </a:solidFill>
                </a:rPr>
                <a:t>BUS</a:t>
              </a:r>
              <a:endParaRPr lang="de-DE" sz="800" dirty="0">
                <a:solidFill>
                  <a:schemeClr val="tx1"/>
                </a:solidFill>
              </a:endParaRPr>
            </a:p>
          </p:txBody>
        </p:sp>
        <p:sp>
          <p:nvSpPr>
            <p:cNvPr id="9" name="Rechteck 8"/>
            <p:cNvSpPr/>
            <p:nvPr/>
          </p:nvSpPr>
          <p:spPr>
            <a:xfrm>
              <a:off x="10999807" y="3838795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" name="Rechteck 9"/>
            <p:cNvSpPr/>
            <p:nvPr/>
          </p:nvSpPr>
          <p:spPr>
            <a:xfrm>
              <a:off x="9794875" y="3396620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Rechteck 10"/>
            <p:cNvSpPr/>
            <p:nvPr/>
          </p:nvSpPr>
          <p:spPr>
            <a:xfrm>
              <a:off x="11319534" y="3376639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Rechteck 11"/>
            <p:cNvSpPr/>
            <p:nvPr/>
          </p:nvSpPr>
          <p:spPr>
            <a:xfrm>
              <a:off x="10144777" y="3838795"/>
              <a:ext cx="187325" cy="8255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4170698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DDS Konzepte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DCPS</a:t>
            </a:r>
          </a:p>
          <a:p>
            <a:r>
              <a:rPr lang="de-DE" dirty="0" smtClean="0"/>
              <a:t>DLRL (nicht verwechseln mit TL;DR)</a:t>
            </a:r>
          </a:p>
          <a:p>
            <a:r>
              <a:rPr lang="de-DE" dirty="0" smtClean="0"/>
              <a:t>TOPIC</a:t>
            </a:r>
          </a:p>
          <a:p>
            <a:r>
              <a:rPr lang="de-DE" dirty="0" smtClean="0"/>
              <a:t>DOMAIN</a:t>
            </a:r>
          </a:p>
          <a:p>
            <a:r>
              <a:rPr lang="de-DE" dirty="0" smtClean="0"/>
              <a:t>PUBLISHER</a:t>
            </a:r>
          </a:p>
          <a:p>
            <a:r>
              <a:rPr lang="de-DE" dirty="0" smtClean="0"/>
              <a:t>SUBSCRIBER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1935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DDS Architektur - Modell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Auf welcher Ebene des OSI ISO befinden wir uns?</a:t>
            </a:r>
          </a:p>
          <a:p>
            <a:r>
              <a:rPr lang="de-DE" dirty="0"/>
              <a:t>Message-</a:t>
            </a:r>
            <a:r>
              <a:rPr lang="de-DE" dirty="0" err="1"/>
              <a:t>oriented</a:t>
            </a:r>
            <a:r>
              <a:rPr lang="de-DE" dirty="0"/>
              <a:t> </a:t>
            </a:r>
            <a:r>
              <a:rPr lang="de-DE" dirty="0" err="1"/>
              <a:t>middleware</a:t>
            </a:r>
            <a:endParaRPr lang="de-DE" dirty="0"/>
          </a:p>
          <a:p>
            <a:endParaRPr lang="de-DE" dirty="0" smtClean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5688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Tooles</a:t>
            </a:r>
            <a:r>
              <a:rPr lang="de-DE" dirty="0" smtClean="0"/>
              <a:t> Bild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8</a:t>
            </a:fld>
            <a:endParaRPr lang="de-DE"/>
          </a:p>
        </p:txBody>
      </p:sp>
      <p:sp>
        <p:nvSpPr>
          <p:cNvPr id="6" name="Wolke 5"/>
          <p:cNvSpPr/>
          <p:nvPr/>
        </p:nvSpPr>
        <p:spPr>
          <a:xfrm>
            <a:off x="4622800" y="3429000"/>
            <a:ext cx="2895600" cy="173990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Global Data Space</a:t>
            </a:r>
            <a:endParaRPr lang="de-DE" dirty="0"/>
          </a:p>
        </p:txBody>
      </p:sp>
      <p:sp>
        <p:nvSpPr>
          <p:cNvPr id="7" name="Abgerundetes Rechteck 6"/>
          <p:cNvSpPr/>
          <p:nvPr/>
        </p:nvSpPr>
        <p:spPr>
          <a:xfrm>
            <a:off x="8369300" y="2755900"/>
            <a:ext cx="1143000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8831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DDS Implementierungen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 smtClean="0"/>
              <a:t>OpenDDS</a:t>
            </a:r>
            <a:endParaRPr lang="de-DE" dirty="0" smtClean="0"/>
          </a:p>
          <a:p>
            <a:r>
              <a:rPr lang="de-DE" dirty="0" smtClean="0"/>
              <a:t>DDS </a:t>
            </a:r>
            <a:r>
              <a:rPr lang="de-DE" dirty="0" err="1" smtClean="0"/>
              <a:t>for</a:t>
            </a:r>
            <a:r>
              <a:rPr lang="de-DE" dirty="0" smtClean="0"/>
              <a:t> TAO</a:t>
            </a:r>
          </a:p>
          <a:p>
            <a:r>
              <a:rPr lang="de-DE" dirty="0" smtClean="0"/>
              <a:t>RTI Data Distribution Service (NDDS)</a:t>
            </a:r>
          </a:p>
          <a:p>
            <a:r>
              <a:rPr lang="de-DE" dirty="0" smtClean="0"/>
              <a:t>BEE DDS</a:t>
            </a:r>
          </a:p>
          <a:p>
            <a:r>
              <a:rPr lang="de-DE" dirty="0" smtClean="0"/>
              <a:t>DDS </a:t>
            </a:r>
            <a:r>
              <a:rPr lang="de-DE" dirty="0" err="1" smtClean="0"/>
              <a:t>for</a:t>
            </a:r>
            <a:r>
              <a:rPr lang="de-DE" dirty="0" smtClean="0"/>
              <a:t> ROS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36749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DDS Interoperabilität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0951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DDS </a:t>
            </a:r>
            <a:r>
              <a:rPr lang="de-DE" dirty="0" err="1" smtClean="0"/>
              <a:t>QoS</a:t>
            </a:r>
            <a:r>
              <a:rPr lang="de-DE" dirty="0" smtClean="0"/>
              <a:t> Beispiele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4785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Vergleich mit MQTT, AMQP, OPC UA 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5321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DDS </a:t>
            </a:r>
            <a:r>
              <a:rPr lang="de-DE" dirty="0" err="1" smtClean="0"/>
              <a:t>QoS</a:t>
            </a:r>
            <a:r>
              <a:rPr lang="de-DE" dirty="0" smtClean="0"/>
              <a:t> 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85383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Live Demo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1730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Vielen Dank für die Aufmerksamkeit</a:t>
            </a:r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9382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Quellen</a:t>
            </a:r>
            <a:endParaRPr lang="de-DE" dirty="0"/>
          </a:p>
        </p:txBody>
      </p:sp>
      <p:sp>
        <p:nvSpPr>
          <p:cNvPr id="7" name="Inhaltsplatzhalt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OMG </a:t>
            </a:r>
            <a:r>
              <a:rPr lang="de-DE" dirty="0" smtClean="0"/>
              <a:t>Data </a:t>
            </a:r>
            <a:r>
              <a:rPr lang="de-DE" dirty="0"/>
              <a:t>Distribution Service Version </a:t>
            </a:r>
            <a:r>
              <a:rPr lang="de-DE" dirty="0" smtClean="0"/>
              <a:t>1.4 (Link)</a:t>
            </a:r>
          </a:p>
          <a:p>
            <a:r>
              <a:rPr lang="de-DE" dirty="0" smtClean="0"/>
              <a:t>DDS </a:t>
            </a:r>
            <a:r>
              <a:rPr lang="de-DE" dirty="0" err="1" smtClean="0"/>
              <a:t>Foundation</a:t>
            </a:r>
            <a:r>
              <a:rPr lang="de-DE" dirty="0" smtClean="0"/>
              <a:t> (Link)</a:t>
            </a:r>
          </a:p>
          <a:p>
            <a:r>
              <a:rPr lang="de-DE" dirty="0" smtClean="0"/>
              <a:t>Penis </a:t>
            </a:r>
            <a:r>
              <a:rPr lang="de-DE" dirty="0" err="1" smtClean="0"/>
              <a:t>informatik</a:t>
            </a:r>
            <a:r>
              <a:rPr lang="de-DE" dirty="0" smtClean="0"/>
              <a:t> </a:t>
            </a:r>
            <a:r>
              <a:rPr lang="de-DE" dirty="0" err="1" smtClean="0"/>
              <a:t>seite</a:t>
            </a:r>
            <a:r>
              <a:rPr lang="de-DE" dirty="0" smtClean="0"/>
              <a:t> (Link)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C. Adolph - J.P. Kaatz - 2021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A007C-F580-4FCE-902E-6189D8624F0F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7887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373</Words>
  <Application>Microsoft Office PowerPoint</Application>
  <PresentationFormat>Breitbild</PresentationFormat>
  <Paragraphs>108</Paragraphs>
  <Slides>16</Slides>
  <Notes>0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Wingdings</vt:lpstr>
      <vt:lpstr>Office</vt:lpstr>
      <vt:lpstr>Data Distribution Service (DDS) </vt:lpstr>
      <vt:lpstr>Agenda</vt:lpstr>
      <vt:lpstr>Was ist DDS?</vt:lpstr>
      <vt:lpstr>Netzwerkevolution</vt:lpstr>
      <vt:lpstr>Data-Centric</vt:lpstr>
      <vt:lpstr>DDS Konzepte</vt:lpstr>
      <vt:lpstr>DDS Architektur - Modell</vt:lpstr>
      <vt:lpstr>Tooles Bild</vt:lpstr>
      <vt:lpstr>DDS Implementierungen</vt:lpstr>
      <vt:lpstr>DDS Interoperabilität</vt:lpstr>
      <vt:lpstr>DDS QoS Beispiele</vt:lpstr>
      <vt:lpstr>Vergleich mit MQTT, AMQP, OPC UA </vt:lpstr>
      <vt:lpstr>DDS QoS </vt:lpstr>
      <vt:lpstr>Live Demo</vt:lpstr>
      <vt:lpstr>Vielen Dank für die Aufmerksamkeit</vt:lpstr>
      <vt:lpstr>Quellen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RFID in der Industrie 4.0</dc:title>
  <dc:creator>cka</dc:creator>
  <cp:lastModifiedBy>cka</cp:lastModifiedBy>
  <cp:revision>30</cp:revision>
  <dcterms:created xsi:type="dcterms:W3CDTF">2021-05-09T16:56:35Z</dcterms:created>
  <dcterms:modified xsi:type="dcterms:W3CDTF">2021-06-06T16:43:44Z</dcterms:modified>
</cp:coreProperties>
</file>