
<file path=[Content_Types].xml><?xml version="1.0" encoding="utf-8"?>
<Types xmlns="http://schemas.openxmlformats.org/package/2006/content-types">
  <Default Extension="png" ContentType="image/png"/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>
  <p:sldMasterIdLst>
    <p:sldMasterId id="2147483690" r:id="rId1"/>
  </p:sldMasterIdLst>
  <p:notesMasterIdLst>
    <p:notesMasterId r:id="rId15"/>
  </p:notesMasterIdLst>
  <p:sldIdLst>
    <p:sldId id="256" r:id="rId2"/>
    <p:sldId id="257" r:id="rId3"/>
    <p:sldId id="267" r:id="rId4"/>
    <p:sldId id="280" r:id="rId5"/>
    <p:sldId id="279" r:id="rId6"/>
    <p:sldId id="277" r:id="rId7"/>
    <p:sldId id="275" r:id="rId8"/>
    <p:sldId id="269" r:id="rId9"/>
    <p:sldId id="273" r:id="rId10"/>
    <p:sldId id="274" r:id="rId11"/>
    <p:sldId id="278" r:id="rId12"/>
    <p:sldId id="265" r:id="rId13"/>
    <p:sldId id="266" r:id="rId14"/>
  </p:sldIdLst>
  <p:sldSz cx="12192000" cy="6858000"/>
  <p:notesSz cx="6858000" cy="9144000"/>
  <p:defaultTextStyle>
    <a:defPPr>
      <a:defRPr lang="de-DE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987" autoAdjust="0"/>
    <p:restoredTop sz="94660"/>
  </p:normalViewPr>
  <p:slideViewPr>
    <p:cSldViewPr snapToGrid="0" showGuides="1">
      <p:cViewPr varScale="1">
        <p:scale>
          <a:sx n="110" d="100"/>
          <a:sy n="110" d="100"/>
        </p:scale>
        <p:origin x="492" y="102"/>
      </p:cViewPr>
      <p:guideLst>
        <p:guide orient="horz" pos="2160"/>
        <p:guide pos="384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notesMaster" Target="notesMasters/notesMaster1.xml"/><Relationship Id="rId10" Type="http://schemas.openxmlformats.org/officeDocument/2006/relationships/slide" Target="slides/slide9.xml"/><Relationship Id="rId19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opfzeilenplatzhalt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de-DE"/>
          </a:p>
        </p:txBody>
      </p:sp>
      <p:sp>
        <p:nvSpPr>
          <p:cNvPr id="3" name="Datumsplatzhalt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B62FC3C-7D38-4829-9BC3-2CBE8CF413EB}" type="datetimeFigureOut">
              <a:rPr lang="de-DE" smtClean="0"/>
              <a:t>06.06.2021</a:t>
            </a:fld>
            <a:endParaRPr lang="de-DE"/>
          </a:p>
        </p:txBody>
      </p:sp>
      <p:sp>
        <p:nvSpPr>
          <p:cNvPr id="4" name="Folienbildplatzhalt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de-DE"/>
          </a:p>
        </p:txBody>
      </p:sp>
      <p:sp>
        <p:nvSpPr>
          <p:cNvPr id="5" name="Notizenplatzhalt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de-DE" smtClean="0"/>
              <a:t>Formatvorlagen des Textmasters bearbeiten</a:t>
            </a:r>
          </a:p>
          <a:p>
            <a:pPr lvl="1"/>
            <a:r>
              <a:rPr lang="de-DE" smtClean="0"/>
              <a:t>Zweite Ebene</a:t>
            </a:r>
          </a:p>
          <a:p>
            <a:pPr lvl="2"/>
            <a:r>
              <a:rPr lang="de-DE" smtClean="0"/>
              <a:t>Dritte Ebene</a:t>
            </a:r>
          </a:p>
          <a:p>
            <a:pPr lvl="3"/>
            <a:r>
              <a:rPr lang="de-DE" smtClean="0"/>
              <a:t>Vierte Ebene</a:t>
            </a:r>
          </a:p>
          <a:p>
            <a:pPr lvl="4"/>
            <a:r>
              <a:rPr lang="de-DE" smtClean="0"/>
              <a:t>Fünfte Ebene</a:t>
            </a:r>
            <a:endParaRPr lang="de-DE"/>
          </a:p>
        </p:txBody>
      </p:sp>
      <p:sp>
        <p:nvSpPr>
          <p:cNvPr id="6" name="Fußzeilenplatzhalt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de-DE"/>
          </a:p>
        </p:txBody>
      </p:sp>
      <p:sp>
        <p:nvSpPr>
          <p:cNvPr id="7" name="Foliennummernplatzhalt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A18DC9E6-953D-49B2-9105-9E4CE2D8B9FD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83981786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elfoli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de-DE" smtClean="0"/>
              <a:t>Titelmasterformat durch Klicken bearbeiten</a:t>
            </a:r>
            <a:endParaRPr lang="de-DE"/>
          </a:p>
        </p:txBody>
      </p:sp>
      <p:sp>
        <p:nvSpPr>
          <p:cNvPr id="3" name="Untertitel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de-DE" smtClean="0"/>
              <a:t>Formatvorlage des Untertitelmasters durch Klicken bearbeiten</a:t>
            </a:r>
            <a:endParaRPr lang="de-DE"/>
          </a:p>
        </p:txBody>
      </p:sp>
      <p:sp>
        <p:nvSpPr>
          <p:cNvPr id="4" name="Datumsplatzhalt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F7D9664-8E16-4964-B763-A256EFC0FC43}" type="datetime1">
              <a:rPr lang="de-DE" smtClean="0"/>
              <a:t>06.06.2021</a:t>
            </a:fld>
            <a:endParaRPr lang="de-DE"/>
          </a:p>
        </p:txBody>
      </p:sp>
      <p:sp>
        <p:nvSpPr>
          <p:cNvPr id="5" name="Fußzeilenplatzhalt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nl-NL" smtClean="0"/>
              <a:t>C. Adolph - J.P. Kaatz - 2021</a:t>
            </a:r>
            <a:endParaRPr lang="de-DE"/>
          </a:p>
        </p:txBody>
      </p:sp>
      <p:sp>
        <p:nvSpPr>
          <p:cNvPr id="6" name="Foliennummernplatzhalt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D1A007C-F580-4FCE-902E-6189D8624F0F}" type="slidenum">
              <a:rPr lang="de-DE" smtClean="0"/>
              <a:t>‹Nr.›</a:t>
            </a:fld>
            <a:endParaRPr lang="de-DE"/>
          </a:p>
        </p:txBody>
      </p:sp>
      <p:sp>
        <p:nvSpPr>
          <p:cNvPr id="7" name="Rechteck 6"/>
          <p:cNvSpPr/>
          <p:nvPr userDrawn="1"/>
        </p:nvSpPr>
        <p:spPr>
          <a:xfrm>
            <a:off x="1" y="1122363"/>
            <a:ext cx="12192000" cy="2479675"/>
          </a:xfrm>
          <a:prstGeom prst="rect">
            <a:avLst/>
          </a:prstGeom>
        </p:spPr>
        <p:style>
          <a:lnRef idx="2">
            <a:schemeClr val="accent2">
              <a:shade val="50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55160419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el und Inha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smtClean="0"/>
              <a:t>Titelmasterformat durch Klicken bearbeiten</a:t>
            </a:r>
            <a:endParaRPr lang="de-DE"/>
          </a:p>
        </p:txBody>
      </p:sp>
      <p:sp>
        <p:nvSpPr>
          <p:cNvPr id="3" name="Inhaltsplatzhalt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de-DE" smtClean="0"/>
              <a:t>Formatvorlagen des Textmasters bearbeiten</a:t>
            </a:r>
          </a:p>
          <a:p>
            <a:pPr lvl="1"/>
            <a:r>
              <a:rPr lang="de-DE" smtClean="0"/>
              <a:t>Zweite Ebene</a:t>
            </a:r>
          </a:p>
          <a:p>
            <a:pPr lvl="2"/>
            <a:r>
              <a:rPr lang="de-DE" smtClean="0"/>
              <a:t>Dritte Ebene</a:t>
            </a:r>
          </a:p>
          <a:p>
            <a:pPr lvl="3"/>
            <a:r>
              <a:rPr lang="de-DE" smtClean="0"/>
              <a:t>Vierte Ebene</a:t>
            </a:r>
          </a:p>
          <a:p>
            <a:pPr lvl="4"/>
            <a:r>
              <a:rPr lang="de-DE" smtClean="0"/>
              <a:t>Fünfte Ebene</a:t>
            </a:r>
            <a:endParaRPr lang="de-DE"/>
          </a:p>
        </p:txBody>
      </p:sp>
      <p:sp>
        <p:nvSpPr>
          <p:cNvPr id="4" name="Datumsplatzhalt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0EAC2A0-CEAF-4A02-A7C8-41043D91283A}" type="datetime1">
              <a:rPr lang="de-DE" smtClean="0"/>
              <a:t>06.06.2021</a:t>
            </a:fld>
            <a:endParaRPr lang="de-DE"/>
          </a:p>
        </p:txBody>
      </p:sp>
      <p:sp>
        <p:nvSpPr>
          <p:cNvPr id="5" name="Fußzeilenplatzhalt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nl-NL" smtClean="0"/>
              <a:t>C. Adolph - J.P. Kaatz - 2021</a:t>
            </a:r>
            <a:endParaRPr lang="de-DE"/>
          </a:p>
        </p:txBody>
      </p:sp>
      <p:sp>
        <p:nvSpPr>
          <p:cNvPr id="6" name="Foliennummernplatzhalt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D1A007C-F580-4FCE-902E-6189D8624F0F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4241177833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Abschnitts-&#10;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de-DE" smtClean="0"/>
              <a:t>Titelmasterformat durch Klicken bearbeiten</a:t>
            </a:r>
            <a:endParaRPr lang="de-DE"/>
          </a:p>
        </p:txBody>
      </p:sp>
      <p:sp>
        <p:nvSpPr>
          <p:cNvPr id="3" name="Textplatzhalter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de-DE" smtClean="0"/>
              <a:t>Formatvorlagen des Textmasters bearbeiten</a:t>
            </a:r>
          </a:p>
        </p:txBody>
      </p:sp>
      <p:sp>
        <p:nvSpPr>
          <p:cNvPr id="4" name="Datumsplatzhalt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C7430D4-D963-4229-9782-66CBD25EFA52}" type="datetime1">
              <a:rPr lang="de-DE" smtClean="0"/>
              <a:t>06.06.2021</a:t>
            </a:fld>
            <a:endParaRPr lang="de-DE"/>
          </a:p>
        </p:txBody>
      </p:sp>
      <p:sp>
        <p:nvSpPr>
          <p:cNvPr id="5" name="Fußzeilenplatzhalt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nl-NL" smtClean="0"/>
              <a:t>C. Adolph - J.P. Kaatz - 2021</a:t>
            </a:r>
            <a:endParaRPr lang="de-DE"/>
          </a:p>
        </p:txBody>
      </p:sp>
      <p:sp>
        <p:nvSpPr>
          <p:cNvPr id="6" name="Foliennummernplatzhalt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D1A007C-F580-4FCE-902E-6189D8624F0F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90773311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Zwei Inhal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smtClean="0"/>
              <a:t>Titelmasterformat durch Klicken bearbeiten</a:t>
            </a:r>
            <a:endParaRPr lang="de-DE"/>
          </a:p>
        </p:txBody>
      </p:sp>
      <p:sp>
        <p:nvSpPr>
          <p:cNvPr id="3" name="Inhaltsplatzhalter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de-DE" smtClean="0"/>
              <a:t>Formatvorlagen des Textmasters bearbeiten</a:t>
            </a:r>
          </a:p>
          <a:p>
            <a:pPr lvl="1"/>
            <a:r>
              <a:rPr lang="de-DE" smtClean="0"/>
              <a:t>Zweite Ebene</a:t>
            </a:r>
          </a:p>
          <a:p>
            <a:pPr lvl="2"/>
            <a:r>
              <a:rPr lang="de-DE" smtClean="0"/>
              <a:t>Dritte Ebene</a:t>
            </a:r>
          </a:p>
          <a:p>
            <a:pPr lvl="3"/>
            <a:r>
              <a:rPr lang="de-DE" smtClean="0"/>
              <a:t>Vierte Ebene</a:t>
            </a:r>
          </a:p>
          <a:p>
            <a:pPr lvl="4"/>
            <a:r>
              <a:rPr lang="de-DE" smtClean="0"/>
              <a:t>Fünfte Ebene</a:t>
            </a:r>
            <a:endParaRPr lang="de-DE"/>
          </a:p>
        </p:txBody>
      </p:sp>
      <p:sp>
        <p:nvSpPr>
          <p:cNvPr id="4" name="Inhaltsplatzhalter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de-DE" smtClean="0"/>
              <a:t>Formatvorlagen des Textmasters bearbeiten</a:t>
            </a:r>
          </a:p>
          <a:p>
            <a:pPr lvl="1"/>
            <a:r>
              <a:rPr lang="de-DE" smtClean="0"/>
              <a:t>Zweite Ebene</a:t>
            </a:r>
          </a:p>
          <a:p>
            <a:pPr lvl="2"/>
            <a:r>
              <a:rPr lang="de-DE" smtClean="0"/>
              <a:t>Dritte Ebene</a:t>
            </a:r>
          </a:p>
          <a:p>
            <a:pPr lvl="3"/>
            <a:r>
              <a:rPr lang="de-DE" smtClean="0"/>
              <a:t>Vierte Ebene</a:t>
            </a:r>
          </a:p>
          <a:p>
            <a:pPr lvl="4"/>
            <a:r>
              <a:rPr lang="de-DE" smtClean="0"/>
              <a:t>Fünfte Ebene</a:t>
            </a:r>
            <a:endParaRPr lang="de-DE"/>
          </a:p>
        </p:txBody>
      </p:sp>
      <p:sp>
        <p:nvSpPr>
          <p:cNvPr id="5" name="Datumsplatzhalt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92E9D27-13E8-4198-8A5A-354C9E832E3B}" type="datetime1">
              <a:rPr lang="de-DE" smtClean="0"/>
              <a:t>06.06.2021</a:t>
            </a:fld>
            <a:endParaRPr lang="de-DE"/>
          </a:p>
        </p:txBody>
      </p:sp>
      <p:sp>
        <p:nvSpPr>
          <p:cNvPr id="6" name="Fußzeilenplatzhalt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nl-NL" smtClean="0"/>
              <a:t>C. Adolph - J.P. Kaatz - 2021</a:t>
            </a:r>
            <a:endParaRPr lang="de-DE"/>
          </a:p>
        </p:txBody>
      </p:sp>
      <p:sp>
        <p:nvSpPr>
          <p:cNvPr id="7" name="Foliennummernplatzhalt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D1A007C-F580-4FCE-902E-6189D8624F0F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13320183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Vergleich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de-DE" smtClean="0"/>
              <a:t>Titelmasterformat durch Klicken bearbeiten</a:t>
            </a:r>
            <a:endParaRPr lang="de-DE"/>
          </a:p>
        </p:txBody>
      </p:sp>
      <p:sp>
        <p:nvSpPr>
          <p:cNvPr id="3" name="Textplatzhalter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de-DE" smtClean="0"/>
              <a:t>Formatvorlagen des Textmasters bearbeiten</a:t>
            </a:r>
          </a:p>
        </p:txBody>
      </p:sp>
      <p:sp>
        <p:nvSpPr>
          <p:cNvPr id="4" name="Inhaltsplatzhalter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de-DE" smtClean="0"/>
              <a:t>Formatvorlagen des Textmasters bearbeiten</a:t>
            </a:r>
          </a:p>
          <a:p>
            <a:pPr lvl="1"/>
            <a:r>
              <a:rPr lang="de-DE" smtClean="0"/>
              <a:t>Zweite Ebene</a:t>
            </a:r>
          </a:p>
          <a:p>
            <a:pPr lvl="2"/>
            <a:r>
              <a:rPr lang="de-DE" smtClean="0"/>
              <a:t>Dritte Ebene</a:t>
            </a:r>
          </a:p>
          <a:p>
            <a:pPr lvl="3"/>
            <a:r>
              <a:rPr lang="de-DE" smtClean="0"/>
              <a:t>Vierte Ebene</a:t>
            </a:r>
          </a:p>
          <a:p>
            <a:pPr lvl="4"/>
            <a:r>
              <a:rPr lang="de-DE" smtClean="0"/>
              <a:t>Fünfte Ebene</a:t>
            </a:r>
            <a:endParaRPr lang="de-DE"/>
          </a:p>
        </p:txBody>
      </p:sp>
      <p:sp>
        <p:nvSpPr>
          <p:cNvPr id="5" name="Textplatzhalter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de-DE" smtClean="0"/>
              <a:t>Formatvorlagen des Textmasters bearbeiten</a:t>
            </a:r>
          </a:p>
        </p:txBody>
      </p:sp>
      <p:sp>
        <p:nvSpPr>
          <p:cNvPr id="6" name="Inhaltsplatzhalter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de-DE" smtClean="0"/>
              <a:t>Formatvorlagen des Textmasters bearbeiten</a:t>
            </a:r>
          </a:p>
          <a:p>
            <a:pPr lvl="1"/>
            <a:r>
              <a:rPr lang="de-DE" smtClean="0"/>
              <a:t>Zweite Ebene</a:t>
            </a:r>
          </a:p>
          <a:p>
            <a:pPr lvl="2"/>
            <a:r>
              <a:rPr lang="de-DE" smtClean="0"/>
              <a:t>Dritte Ebene</a:t>
            </a:r>
          </a:p>
          <a:p>
            <a:pPr lvl="3"/>
            <a:r>
              <a:rPr lang="de-DE" smtClean="0"/>
              <a:t>Vierte Ebene</a:t>
            </a:r>
          </a:p>
          <a:p>
            <a:pPr lvl="4"/>
            <a:r>
              <a:rPr lang="de-DE" smtClean="0"/>
              <a:t>Fünfte Ebene</a:t>
            </a:r>
            <a:endParaRPr lang="de-DE"/>
          </a:p>
        </p:txBody>
      </p:sp>
      <p:sp>
        <p:nvSpPr>
          <p:cNvPr id="7" name="Datumsplatzhalt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187BF9B-7546-4CE5-AFF2-8697241E3E06}" type="datetime1">
              <a:rPr lang="de-DE" smtClean="0"/>
              <a:t>06.06.2021</a:t>
            </a:fld>
            <a:endParaRPr lang="de-DE"/>
          </a:p>
        </p:txBody>
      </p:sp>
      <p:sp>
        <p:nvSpPr>
          <p:cNvPr id="8" name="Fußzeilenplatzhalt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nl-NL" smtClean="0"/>
              <a:t>C. Adolph - J.P. Kaatz - 2021</a:t>
            </a:r>
            <a:endParaRPr lang="de-DE"/>
          </a:p>
        </p:txBody>
      </p:sp>
      <p:sp>
        <p:nvSpPr>
          <p:cNvPr id="9" name="Foliennummernplatzhalt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D1A007C-F580-4FCE-902E-6189D8624F0F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77261789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Nur Tite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smtClean="0"/>
              <a:t>Titelmasterformat durch Klicken bearbeiten</a:t>
            </a:r>
            <a:endParaRPr lang="de-DE"/>
          </a:p>
        </p:txBody>
      </p:sp>
      <p:sp>
        <p:nvSpPr>
          <p:cNvPr id="3" name="Datumsplatzhalt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ACF8029-E8C4-4B9F-A2B7-6B77C0664E0A}" type="datetime1">
              <a:rPr lang="de-DE" smtClean="0"/>
              <a:t>06.06.2021</a:t>
            </a:fld>
            <a:endParaRPr lang="de-DE"/>
          </a:p>
        </p:txBody>
      </p:sp>
      <p:sp>
        <p:nvSpPr>
          <p:cNvPr id="4" name="Fußzeilenplatzhalt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nl-NL" smtClean="0"/>
              <a:t>C. Adolph - J.P. Kaatz - 2021</a:t>
            </a:r>
            <a:endParaRPr lang="de-DE"/>
          </a:p>
        </p:txBody>
      </p:sp>
      <p:sp>
        <p:nvSpPr>
          <p:cNvPr id="5" name="Foliennummernplatzhalt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D1A007C-F580-4FCE-902E-6189D8624F0F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25046394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Le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umsplatzhalt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720C63-149E-4464-BF2B-98A675E601F0}" type="datetime1">
              <a:rPr lang="de-DE" smtClean="0"/>
              <a:t>06.06.2021</a:t>
            </a:fld>
            <a:endParaRPr lang="de-DE"/>
          </a:p>
        </p:txBody>
      </p:sp>
      <p:sp>
        <p:nvSpPr>
          <p:cNvPr id="3" name="Fußzeilenplatzhalt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nl-NL" smtClean="0"/>
              <a:t>C. Adolph - J.P. Kaatz - 2021</a:t>
            </a:r>
            <a:endParaRPr lang="de-DE"/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D1A007C-F580-4FCE-902E-6189D8624F0F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423473431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Inhalt mit 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de-DE" smtClean="0"/>
              <a:t>Titelmasterformat durch Klicken bearbeiten</a:t>
            </a:r>
            <a:endParaRPr lang="de-DE"/>
          </a:p>
        </p:txBody>
      </p:sp>
      <p:sp>
        <p:nvSpPr>
          <p:cNvPr id="3" name="Inhaltsplatzhalter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de-DE" smtClean="0"/>
              <a:t>Formatvorlagen des Textmasters bearbeiten</a:t>
            </a:r>
          </a:p>
          <a:p>
            <a:pPr lvl="1"/>
            <a:r>
              <a:rPr lang="de-DE" smtClean="0"/>
              <a:t>Zweite Ebene</a:t>
            </a:r>
          </a:p>
          <a:p>
            <a:pPr lvl="2"/>
            <a:r>
              <a:rPr lang="de-DE" smtClean="0"/>
              <a:t>Dritte Ebene</a:t>
            </a:r>
          </a:p>
          <a:p>
            <a:pPr lvl="3"/>
            <a:r>
              <a:rPr lang="de-DE" smtClean="0"/>
              <a:t>Vierte Ebene</a:t>
            </a:r>
          </a:p>
          <a:p>
            <a:pPr lvl="4"/>
            <a:r>
              <a:rPr lang="de-DE" smtClean="0"/>
              <a:t>Fünfte Ebene</a:t>
            </a:r>
            <a:endParaRPr lang="de-DE"/>
          </a:p>
        </p:txBody>
      </p:sp>
      <p:sp>
        <p:nvSpPr>
          <p:cNvPr id="4" name="Textplatzhalt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de-DE" smtClean="0"/>
              <a:t>Formatvorlagen des Textmasters bearbeiten</a:t>
            </a:r>
          </a:p>
        </p:txBody>
      </p:sp>
      <p:sp>
        <p:nvSpPr>
          <p:cNvPr id="5" name="Datumsplatzhalt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80342E4-09EB-4FFF-B06F-730EE78061B4}" type="datetime1">
              <a:rPr lang="de-DE" smtClean="0"/>
              <a:t>06.06.2021</a:t>
            </a:fld>
            <a:endParaRPr lang="de-DE"/>
          </a:p>
        </p:txBody>
      </p:sp>
      <p:sp>
        <p:nvSpPr>
          <p:cNvPr id="6" name="Fußzeilenplatzhalt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nl-NL" smtClean="0"/>
              <a:t>C. Adolph - J.P. Kaatz - 2021</a:t>
            </a:r>
            <a:endParaRPr lang="de-DE"/>
          </a:p>
        </p:txBody>
      </p:sp>
      <p:sp>
        <p:nvSpPr>
          <p:cNvPr id="7" name="Foliennummernplatzhalt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D1A007C-F580-4FCE-902E-6189D8624F0F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98481792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Bild mit 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de-DE" smtClean="0"/>
              <a:t>Titelmasterformat durch Klicken bearbeiten</a:t>
            </a:r>
            <a:endParaRPr lang="de-DE"/>
          </a:p>
        </p:txBody>
      </p:sp>
      <p:sp>
        <p:nvSpPr>
          <p:cNvPr id="3" name="Bildplatzhalter 2"/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de-DE"/>
          </a:p>
        </p:txBody>
      </p:sp>
      <p:sp>
        <p:nvSpPr>
          <p:cNvPr id="4" name="Textplatzhalt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de-DE" smtClean="0"/>
              <a:t>Formatvorlagen des Textmasters bearbeiten</a:t>
            </a:r>
          </a:p>
        </p:txBody>
      </p:sp>
      <p:sp>
        <p:nvSpPr>
          <p:cNvPr id="5" name="Datumsplatzhalt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12AEFF4-E62B-4E5C-853F-7E51C47530FC}" type="datetime1">
              <a:rPr lang="de-DE" smtClean="0"/>
              <a:t>06.06.2021</a:t>
            </a:fld>
            <a:endParaRPr lang="de-DE"/>
          </a:p>
        </p:txBody>
      </p:sp>
      <p:sp>
        <p:nvSpPr>
          <p:cNvPr id="6" name="Fußzeilenplatzhalt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nl-NL" smtClean="0"/>
              <a:t>C. Adolph - J.P. Kaatz - 2021</a:t>
            </a:r>
            <a:endParaRPr lang="de-DE"/>
          </a:p>
        </p:txBody>
      </p:sp>
      <p:sp>
        <p:nvSpPr>
          <p:cNvPr id="7" name="Foliennummernplatzhalt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D1A007C-F580-4FCE-902E-6189D8624F0F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709346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el und vertikaler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smtClean="0"/>
              <a:t>Titelmasterformat durch Klicken bearbeiten</a:t>
            </a:r>
            <a:endParaRPr lang="de-DE"/>
          </a:p>
        </p:txBody>
      </p:sp>
      <p:sp>
        <p:nvSpPr>
          <p:cNvPr id="3" name="Vertikaler Textplatzhalt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de-DE" smtClean="0"/>
              <a:t>Formatvorlagen des Textmasters bearbeiten</a:t>
            </a:r>
          </a:p>
          <a:p>
            <a:pPr lvl="1"/>
            <a:r>
              <a:rPr lang="de-DE" smtClean="0"/>
              <a:t>Zweite Ebene</a:t>
            </a:r>
          </a:p>
          <a:p>
            <a:pPr lvl="2"/>
            <a:r>
              <a:rPr lang="de-DE" smtClean="0"/>
              <a:t>Dritte Ebene</a:t>
            </a:r>
          </a:p>
          <a:p>
            <a:pPr lvl="3"/>
            <a:r>
              <a:rPr lang="de-DE" smtClean="0"/>
              <a:t>Vierte Ebene</a:t>
            </a:r>
          </a:p>
          <a:p>
            <a:pPr lvl="4"/>
            <a:r>
              <a:rPr lang="de-DE" smtClean="0"/>
              <a:t>Fünfte Ebene</a:t>
            </a:r>
            <a:endParaRPr lang="de-DE"/>
          </a:p>
        </p:txBody>
      </p:sp>
      <p:sp>
        <p:nvSpPr>
          <p:cNvPr id="4" name="Datumsplatzhalt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9D73850-DCB7-4FC8-9407-BA6D9F3590BC}" type="datetime1">
              <a:rPr lang="de-DE" smtClean="0"/>
              <a:t>06.06.2021</a:t>
            </a:fld>
            <a:endParaRPr lang="de-DE"/>
          </a:p>
        </p:txBody>
      </p:sp>
      <p:sp>
        <p:nvSpPr>
          <p:cNvPr id="5" name="Fußzeilenplatzhalt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nl-NL" smtClean="0"/>
              <a:t>C. Adolph - J.P. Kaatz - 2021</a:t>
            </a:r>
            <a:endParaRPr lang="de-DE"/>
          </a:p>
        </p:txBody>
      </p:sp>
      <p:sp>
        <p:nvSpPr>
          <p:cNvPr id="6" name="Foliennummernplatzhalt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D1A007C-F580-4FCE-902E-6189D8624F0F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76788718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kaler Titel u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kaler Titel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de-DE" smtClean="0"/>
              <a:t>Titelmasterformat durch Klicken bearbeiten</a:t>
            </a:r>
            <a:endParaRPr lang="de-DE"/>
          </a:p>
        </p:txBody>
      </p:sp>
      <p:sp>
        <p:nvSpPr>
          <p:cNvPr id="3" name="Vertikaler Textplatzhalter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de-DE" smtClean="0"/>
              <a:t>Formatvorlagen des Textmasters bearbeiten</a:t>
            </a:r>
          </a:p>
          <a:p>
            <a:pPr lvl="1"/>
            <a:r>
              <a:rPr lang="de-DE" smtClean="0"/>
              <a:t>Zweite Ebene</a:t>
            </a:r>
          </a:p>
          <a:p>
            <a:pPr lvl="2"/>
            <a:r>
              <a:rPr lang="de-DE" smtClean="0"/>
              <a:t>Dritte Ebene</a:t>
            </a:r>
          </a:p>
          <a:p>
            <a:pPr lvl="3"/>
            <a:r>
              <a:rPr lang="de-DE" smtClean="0"/>
              <a:t>Vierte Ebene</a:t>
            </a:r>
          </a:p>
          <a:p>
            <a:pPr lvl="4"/>
            <a:r>
              <a:rPr lang="de-DE" smtClean="0"/>
              <a:t>Fünfte Ebene</a:t>
            </a:r>
            <a:endParaRPr lang="de-DE"/>
          </a:p>
        </p:txBody>
      </p:sp>
      <p:sp>
        <p:nvSpPr>
          <p:cNvPr id="4" name="Datumsplatzhalt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39265D3-0E97-4D9F-A6CE-BC38290D5412}" type="datetime1">
              <a:rPr lang="de-DE" smtClean="0"/>
              <a:t>06.06.2021</a:t>
            </a:fld>
            <a:endParaRPr lang="de-DE"/>
          </a:p>
        </p:txBody>
      </p:sp>
      <p:sp>
        <p:nvSpPr>
          <p:cNvPr id="5" name="Fußzeilenplatzhalt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nl-NL" smtClean="0"/>
              <a:t>C. Adolph - J.P. Kaatz - 2021</a:t>
            </a:r>
            <a:endParaRPr lang="de-DE"/>
          </a:p>
        </p:txBody>
      </p:sp>
      <p:sp>
        <p:nvSpPr>
          <p:cNvPr id="6" name="Foliennummernplatzhalt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D1A007C-F580-4FCE-902E-6189D8624F0F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99423049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image" Target="../media/image1.png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platzhalter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de-DE" smtClean="0"/>
              <a:t>Titelmasterformat durch Klicken bearbeiten</a:t>
            </a:r>
            <a:endParaRPr lang="de-DE"/>
          </a:p>
        </p:txBody>
      </p:sp>
      <p:sp>
        <p:nvSpPr>
          <p:cNvPr id="3" name="Textplatzhalter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de-DE" smtClean="0"/>
              <a:t>Formatvorlagen des Textmasters bearbeiten</a:t>
            </a:r>
          </a:p>
          <a:p>
            <a:pPr lvl="1"/>
            <a:r>
              <a:rPr lang="de-DE" smtClean="0"/>
              <a:t>Zweite Ebene</a:t>
            </a:r>
          </a:p>
          <a:p>
            <a:pPr lvl="2"/>
            <a:r>
              <a:rPr lang="de-DE" smtClean="0"/>
              <a:t>Dritte Ebene</a:t>
            </a:r>
          </a:p>
          <a:p>
            <a:pPr lvl="3"/>
            <a:r>
              <a:rPr lang="de-DE" smtClean="0"/>
              <a:t>Vierte Ebene</a:t>
            </a:r>
          </a:p>
          <a:p>
            <a:pPr lvl="4"/>
            <a:r>
              <a:rPr lang="de-DE" smtClean="0"/>
              <a:t>Fünfte Ebene</a:t>
            </a:r>
            <a:endParaRPr lang="de-DE"/>
          </a:p>
        </p:txBody>
      </p:sp>
      <p:sp>
        <p:nvSpPr>
          <p:cNvPr id="4" name="Datumsplatzhalter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F906EAC8-8EDF-4B57-BFB0-7DCF4E71DF18}" type="datetime1">
              <a:rPr lang="de-DE" smtClean="0"/>
              <a:t>06.06.2021</a:t>
            </a:fld>
            <a:endParaRPr lang="de-DE"/>
          </a:p>
        </p:txBody>
      </p:sp>
      <p:sp>
        <p:nvSpPr>
          <p:cNvPr id="5" name="Fußzeilenplatzhalter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r>
              <a:rPr lang="nl-NL" smtClean="0"/>
              <a:t>C. Adolph - J.P. Kaatz - 2021</a:t>
            </a:r>
            <a:endParaRPr lang="de-DE"/>
          </a:p>
        </p:txBody>
      </p:sp>
      <p:sp>
        <p:nvSpPr>
          <p:cNvPr id="6" name="Foliennummernplatzhalter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D1A007C-F580-4FCE-902E-6189D8624F0F}" type="slidenum">
              <a:rPr lang="de-DE" smtClean="0"/>
              <a:t>‹Nr.›</a:t>
            </a:fld>
            <a:endParaRPr lang="de-DE"/>
          </a:p>
        </p:txBody>
      </p:sp>
      <p:sp>
        <p:nvSpPr>
          <p:cNvPr id="7" name="Rechteck 6"/>
          <p:cNvSpPr/>
          <p:nvPr userDrawn="1"/>
        </p:nvSpPr>
        <p:spPr>
          <a:xfrm>
            <a:off x="10443410" y="0"/>
            <a:ext cx="1748590" cy="649705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pic>
        <p:nvPicPr>
          <p:cNvPr id="8" name="Picture 6"/>
          <p:cNvPicPr>
            <a:picLocks noChangeAspect="1" noChangeArrowheads="1"/>
          </p:cNvPicPr>
          <p:nvPr userDrawn="1"/>
        </p:nvPicPr>
        <p:blipFill>
          <a:blip r:embed="rId1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586930" y="75635"/>
            <a:ext cx="1557742" cy="47304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blipFill dpi="0" rotWithShape="0">
                  <a:blip/>
                  <a:srcRect/>
                  <a:stretch>
                    <a:fillRect/>
                  </a:stretch>
                </a:blipFill>
              </a14:hiddenFill>
            </a:ext>
            <a:ext uri="{91240B29-F687-4F45-9708-019B960494DF}">
              <a14:hiddenLine xmlns:a14="http://schemas.microsoft.com/office/drawing/2010/main" w="9525" cap="flat">
                <a:solidFill>
                  <a:srgbClr val="808080"/>
                </a:solidFill>
                <a:round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</p:pic>
      <p:sp>
        <p:nvSpPr>
          <p:cNvPr id="9" name="Rechteck 8"/>
          <p:cNvSpPr/>
          <p:nvPr userDrawn="1"/>
        </p:nvSpPr>
        <p:spPr>
          <a:xfrm>
            <a:off x="0" y="1"/>
            <a:ext cx="10443411" cy="54868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62130343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91" r:id="rId1"/>
    <p:sldLayoutId id="2147483692" r:id="rId2"/>
    <p:sldLayoutId id="2147483693" r:id="rId3"/>
    <p:sldLayoutId id="2147483694" r:id="rId4"/>
    <p:sldLayoutId id="2147483695" r:id="rId5"/>
    <p:sldLayoutId id="2147483696" r:id="rId6"/>
    <p:sldLayoutId id="2147483697" r:id="rId7"/>
    <p:sldLayoutId id="2147483698" r:id="rId8"/>
    <p:sldLayoutId id="2147483699" r:id="rId9"/>
    <p:sldLayoutId id="2147483700" r:id="rId10"/>
    <p:sldLayoutId id="2147483701" r:id="rId11"/>
  </p:sldLayoutIdLst>
  <p:hf hd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de-DE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ctrTitle"/>
          </p:nvPr>
        </p:nvSpPr>
        <p:spPr/>
        <p:txBody>
          <a:bodyPr>
            <a:normAutofit fontScale="90000"/>
          </a:bodyPr>
          <a:lstStyle/>
          <a:p>
            <a:r>
              <a:rPr lang="de-DE" b="1" dirty="0"/>
              <a:t>Data Distribution Service (DDS)</a:t>
            </a:r>
            <a:r>
              <a:rPr lang="de-DE" b="1" dirty="0" smtClean="0"/>
              <a:t/>
            </a:r>
            <a:br>
              <a:rPr lang="de-DE" b="1" dirty="0" smtClean="0"/>
            </a:br>
            <a:endParaRPr lang="de-DE" b="1" dirty="0"/>
          </a:p>
        </p:txBody>
      </p:sp>
      <p:sp>
        <p:nvSpPr>
          <p:cNvPr id="3" name="Untertitel 2"/>
          <p:cNvSpPr>
            <a:spLocks noGrp="1"/>
          </p:cNvSpPr>
          <p:nvPr>
            <p:ph type="subTitle" idx="1"/>
          </p:nvPr>
        </p:nvSpPr>
        <p:spPr/>
        <p:txBody>
          <a:bodyPr>
            <a:normAutofit/>
          </a:bodyPr>
          <a:lstStyle/>
          <a:p>
            <a:pPr algn="l"/>
            <a:r>
              <a:rPr lang="de-DE" dirty="0" smtClean="0"/>
              <a:t>09.06.2021</a:t>
            </a:r>
          </a:p>
          <a:p>
            <a:pPr algn="r"/>
            <a:r>
              <a:rPr lang="de-DE" dirty="0" smtClean="0"/>
              <a:t>Christian Adolph</a:t>
            </a:r>
          </a:p>
          <a:p>
            <a:pPr algn="r"/>
            <a:r>
              <a:rPr lang="de-DE" dirty="0" smtClean="0"/>
              <a:t>Julian P. Kaatz</a:t>
            </a:r>
          </a:p>
        </p:txBody>
      </p:sp>
    </p:spTree>
    <p:extLst>
      <p:ext uri="{BB962C8B-B14F-4D97-AF65-F5344CB8AC3E}">
        <p14:creationId xmlns:p14="http://schemas.microsoft.com/office/powerpoint/2010/main" val="3525144918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 smtClean="0"/>
              <a:t>Agenda</a:t>
            </a:r>
            <a:endParaRPr lang="de-DE" dirty="0"/>
          </a:p>
        </p:txBody>
      </p:sp>
      <p:sp>
        <p:nvSpPr>
          <p:cNvPr id="3" name="Inhaltsplatzhalter 2"/>
          <p:cNvSpPr>
            <a:spLocks noGrp="1"/>
          </p:cNvSpPr>
          <p:nvPr>
            <p:ph idx="1"/>
          </p:nvPr>
        </p:nvSpPr>
        <p:spPr>
          <a:xfrm>
            <a:off x="838200" y="1851025"/>
            <a:ext cx="10515600" cy="4351338"/>
          </a:xfrm>
        </p:spPr>
        <p:txBody>
          <a:bodyPr/>
          <a:lstStyle/>
          <a:p>
            <a:r>
              <a:rPr lang="de-DE" dirty="0" smtClean="0"/>
              <a:t>Was ist DDS?</a:t>
            </a:r>
          </a:p>
          <a:p>
            <a:r>
              <a:rPr lang="de-DE" dirty="0" smtClean="0"/>
              <a:t>Architektur</a:t>
            </a:r>
          </a:p>
          <a:p>
            <a:pPr marL="0" indent="0">
              <a:buNone/>
            </a:pPr>
            <a:endParaRPr lang="de-DE" dirty="0"/>
          </a:p>
          <a:p>
            <a:r>
              <a:rPr lang="de-DE" dirty="0" smtClean="0"/>
              <a:t>Implementierungen</a:t>
            </a:r>
          </a:p>
          <a:p>
            <a:r>
              <a:rPr lang="de-DE" dirty="0" smtClean="0"/>
              <a:t>Zusammenfassung</a:t>
            </a:r>
          </a:p>
          <a:p>
            <a:endParaRPr lang="de-DE" dirty="0"/>
          </a:p>
        </p:txBody>
      </p:sp>
      <p:sp>
        <p:nvSpPr>
          <p:cNvPr id="4" name="Fußzeilenplatzhalt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nl-NL" smtClean="0"/>
              <a:t>C. Adolph - J.P. Kaatz - 2021</a:t>
            </a:r>
            <a:endParaRPr lang="de-DE"/>
          </a:p>
        </p:txBody>
      </p:sp>
      <p:sp>
        <p:nvSpPr>
          <p:cNvPr id="5" name="Foliennummernplatzhalt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D1A007C-F580-4FCE-902E-6189D8624F0F}" type="slidenum">
              <a:rPr lang="de-DE" smtClean="0"/>
              <a:t>2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453195430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 smtClean="0"/>
              <a:t>Was ist DDS?</a:t>
            </a:r>
            <a:endParaRPr lang="de-DE" dirty="0"/>
          </a:p>
        </p:txBody>
      </p:sp>
      <p:sp>
        <p:nvSpPr>
          <p:cNvPr id="3" name="Inhaltsplatzhalt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de-DE" dirty="0" smtClean="0"/>
              <a:t>Data Distribution Service </a:t>
            </a:r>
            <a:r>
              <a:rPr lang="de-DE" dirty="0" err="1" smtClean="0"/>
              <a:t>for</a:t>
            </a:r>
            <a:r>
              <a:rPr lang="de-DE" dirty="0" smtClean="0"/>
              <a:t> Real-Time Systems</a:t>
            </a:r>
          </a:p>
          <a:p>
            <a:pPr lvl="1"/>
            <a:r>
              <a:rPr lang="de-DE" dirty="0" smtClean="0"/>
              <a:t>Standard der OMG Group (die von UML…)</a:t>
            </a:r>
          </a:p>
          <a:p>
            <a:r>
              <a:rPr lang="de-DE" dirty="0" smtClean="0"/>
              <a:t>ist eine Middleware (bzw. </a:t>
            </a:r>
            <a:r>
              <a:rPr lang="de-DE" dirty="0"/>
              <a:t>C</a:t>
            </a:r>
            <a:r>
              <a:rPr lang="de-DE" dirty="0" smtClean="0"/>
              <a:t>onnectivity Framework)</a:t>
            </a:r>
          </a:p>
          <a:p>
            <a:pPr lvl="1"/>
            <a:r>
              <a:rPr lang="de-DE" dirty="0" smtClean="0"/>
              <a:t>kennen wir bereits (</a:t>
            </a:r>
            <a:r>
              <a:rPr lang="de-DE" dirty="0" smtClean="0">
                <a:sym typeface="Wingdings" panose="05000000000000000000" pitchFamily="2" charset="2"/>
              </a:rPr>
              <a:t> Folie)</a:t>
            </a:r>
            <a:endParaRPr lang="de-DE" dirty="0" smtClean="0"/>
          </a:p>
          <a:p>
            <a:r>
              <a:rPr lang="de-DE" dirty="0" smtClean="0"/>
              <a:t>nutzt </a:t>
            </a:r>
            <a:r>
              <a:rPr lang="de-DE" dirty="0" err="1" smtClean="0"/>
              <a:t>Publish</a:t>
            </a:r>
            <a:r>
              <a:rPr lang="de-DE" dirty="0" smtClean="0"/>
              <a:t>/</a:t>
            </a:r>
            <a:r>
              <a:rPr lang="de-DE" dirty="0" err="1" smtClean="0"/>
              <a:t>Subscribe</a:t>
            </a:r>
            <a:endParaRPr lang="de-DE" dirty="0" smtClean="0"/>
          </a:p>
          <a:p>
            <a:pPr lvl="1"/>
            <a:r>
              <a:rPr lang="de-DE" dirty="0" smtClean="0"/>
              <a:t>kennen wir auch schon ( </a:t>
            </a:r>
            <a:r>
              <a:rPr lang="de-DE" dirty="0" smtClean="0">
                <a:sym typeface="Wingdings" panose="05000000000000000000" pitchFamily="2" charset="2"/>
              </a:rPr>
              <a:t> Folie)</a:t>
            </a:r>
            <a:endParaRPr lang="de-DE" dirty="0" smtClean="0"/>
          </a:p>
          <a:p>
            <a:r>
              <a:rPr lang="de-DE" dirty="0" smtClean="0"/>
              <a:t>neu</a:t>
            </a:r>
            <a:r>
              <a:rPr lang="de-DE" b="1" dirty="0" smtClean="0"/>
              <a:t> Data-</a:t>
            </a:r>
            <a:r>
              <a:rPr lang="de-DE" b="1" dirty="0" err="1" smtClean="0"/>
              <a:t>Centric</a:t>
            </a:r>
            <a:r>
              <a:rPr lang="de-DE" b="1" dirty="0" smtClean="0"/>
              <a:t> </a:t>
            </a:r>
          </a:p>
          <a:p>
            <a:pPr lvl="1"/>
            <a:r>
              <a:rPr lang="de-DE" b="1" dirty="0"/>
              <a:t>?</a:t>
            </a:r>
            <a:endParaRPr lang="de-DE" dirty="0" smtClean="0"/>
          </a:p>
          <a:p>
            <a:pPr lvl="1"/>
            <a:endParaRPr lang="de-DE" dirty="0"/>
          </a:p>
        </p:txBody>
      </p:sp>
      <p:sp>
        <p:nvSpPr>
          <p:cNvPr id="4" name="Fußzeilenplatzhalt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nl-NL" dirty="0" smtClean="0"/>
              <a:t>C. Adolph - J.P. Kaatz - 2021</a:t>
            </a:r>
            <a:endParaRPr lang="de-DE" dirty="0"/>
          </a:p>
        </p:txBody>
      </p:sp>
      <p:sp>
        <p:nvSpPr>
          <p:cNvPr id="5" name="Foliennummernplatzhalt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D1A007C-F580-4FCE-902E-6189D8624F0F}" type="slidenum">
              <a:rPr lang="de-DE" smtClean="0"/>
              <a:t>3</a:t>
            </a:fld>
            <a:endParaRPr lang="de-DE"/>
          </a:p>
        </p:txBody>
      </p:sp>
      <p:sp>
        <p:nvSpPr>
          <p:cNvPr id="6" name="Textfeld 5"/>
          <p:cNvSpPr txBox="1"/>
          <p:nvPr/>
        </p:nvSpPr>
        <p:spPr>
          <a:xfrm>
            <a:off x="5628170" y="4793774"/>
            <a:ext cx="6673558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i="1" dirty="0"/>
              <a:t>The purpose of the DDS specification can be summarized as </a:t>
            </a:r>
            <a:endParaRPr lang="en-US" i="1" dirty="0" smtClean="0"/>
          </a:p>
          <a:p>
            <a:r>
              <a:rPr lang="en-US" i="1" dirty="0" smtClean="0"/>
              <a:t>enabling </a:t>
            </a:r>
            <a:r>
              <a:rPr lang="en-US" i="1" dirty="0"/>
              <a:t>the Efficient and Robust Delivery of the Right Information to </a:t>
            </a:r>
            <a:endParaRPr lang="en-US" i="1" dirty="0" smtClean="0"/>
          </a:p>
          <a:p>
            <a:r>
              <a:rPr lang="en-US" i="1" dirty="0" smtClean="0"/>
              <a:t>the </a:t>
            </a:r>
            <a:r>
              <a:rPr lang="en-US" i="1" dirty="0"/>
              <a:t>Right Place at the Right Time</a:t>
            </a:r>
            <a:r>
              <a:rPr lang="en-US" dirty="0"/>
              <a:t>"</a:t>
            </a:r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1742125912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 smtClean="0"/>
              <a:t>kurzer </a:t>
            </a:r>
            <a:r>
              <a:rPr lang="de-DE" dirty="0" smtClean="0"/>
              <a:t>Exkurs </a:t>
            </a:r>
            <a:r>
              <a:rPr lang="de-DE" dirty="0" smtClean="0"/>
              <a:t>Netzwerkevolution</a:t>
            </a:r>
            <a:br>
              <a:rPr lang="de-DE" dirty="0" smtClean="0"/>
            </a:br>
            <a:r>
              <a:rPr lang="de-DE" dirty="0" err="1" smtClean="0"/>
              <a:t>evtl</a:t>
            </a:r>
            <a:r>
              <a:rPr lang="de-DE" dirty="0" smtClean="0"/>
              <a:t> Datenmengen</a:t>
            </a:r>
            <a:endParaRPr lang="de-DE" dirty="0"/>
          </a:p>
        </p:txBody>
      </p:sp>
      <p:sp>
        <p:nvSpPr>
          <p:cNvPr id="4" name="Fußzeilenplatzhalt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nl-NL" smtClean="0"/>
              <a:t>C. Adolph - J.P. Kaatz - 2021</a:t>
            </a:r>
            <a:endParaRPr lang="de-DE"/>
          </a:p>
        </p:txBody>
      </p:sp>
      <p:sp>
        <p:nvSpPr>
          <p:cNvPr id="5" name="Foliennummernplatzhalt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D1A007C-F580-4FCE-902E-6189D8624F0F}" type="slidenum">
              <a:rPr lang="de-DE" smtClean="0"/>
              <a:t>4</a:t>
            </a:fld>
            <a:endParaRPr lang="de-DE"/>
          </a:p>
        </p:txBody>
      </p:sp>
      <p:sp>
        <p:nvSpPr>
          <p:cNvPr id="6" name="Textfeld 5"/>
          <p:cNvSpPr txBox="1"/>
          <p:nvPr/>
        </p:nvSpPr>
        <p:spPr>
          <a:xfrm>
            <a:off x="962108" y="2184139"/>
            <a:ext cx="188758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dirty="0" smtClean="0"/>
              <a:t>Point-</a:t>
            </a:r>
            <a:r>
              <a:rPr lang="de-DE" dirty="0" err="1" smtClean="0"/>
              <a:t>to</a:t>
            </a:r>
            <a:r>
              <a:rPr lang="de-DE" dirty="0" smtClean="0"/>
              <a:t>-Point</a:t>
            </a:r>
            <a:endParaRPr lang="de-DE" dirty="0"/>
          </a:p>
        </p:txBody>
      </p:sp>
      <p:sp>
        <p:nvSpPr>
          <p:cNvPr id="7" name="Textfeld 6"/>
          <p:cNvSpPr txBox="1"/>
          <p:nvPr/>
        </p:nvSpPr>
        <p:spPr>
          <a:xfrm>
            <a:off x="3211706" y="2184139"/>
            <a:ext cx="188758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dirty="0" smtClean="0"/>
              <a:t>Client-Server</a:t>
            </a:r>
            <a:endParaRPr lang="de-DE" dirty="0"/>
          </a:p>
        </p:txBody>
      </p:sp>
      <p:sp>
        <p:nvSpPr>
          <p:cNvPr id="8" name="Textfeld 7"/>
          <p:cNvSpPr txBox="1"/>
          <p:nvPr/>
        </p:nvSpPr>
        <p:spPr>
          <a:xfrm>
            <a:off x="5363623" y="2189528"/>
            <a:ext cx="188758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dirty="0" err="1" smtClean="0"/>
              <a:t>Publish</a:t>
            </a:r>
            <a:r>
              <a:rPr lang="de-DE" dirty="0" smtClean="0"/>
              <a:t>/</a:t>
            </a:r>
            <a:r>
              <a:rPr lang="de-DE" dirty="0" err="1" smtClean="0"/>
              <a:t>Subscribe</a:t>
            </a:r>
            <a:endParaRPr lang="de-DE" dirty="0"/>
          </a:p>
        </p:txBody>
      </p:sp>
      <p:sp>
        <p:nvSpPr>
          <p:cNvPr id="9" name="Textfeld 8"/>
          <p:cNvSpPr txBox="1"/>
          <p:nvPr/>
        </p:nvSpPr>
        <p:spPr>
          <a:xfrm>
            <a:off x="7710902" y="2190844"/>
            <a:ext cx="106787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dirty="0" smtClean="0"/>
              <a:t>Queuing</a:t>
            </a:r>
            <a:endParaRPr lang="de-DE" dirty="0"/>
          </a:p>
        </p:txBody>
      </p:sp>
      <p:sp>
        <p:nvSpPr>
          <p:cNvPr id="10" name="Textfeld 9"/>
          <p:cNvSpPr txBox="1"/>
          <p:nvPr/>
        </p:nvSpPr>
        <p:spPr>
          <a:xfrm>
            <a:off x="9591199" y="2191075"/>
            <a:ext cx="137921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dirty="0" smtClean="0"/>
              <a:t>Data-</a:t>
            </a:r>
            <a:r>
              <a:rPr lang="de-DE" dirty="0" err="1" smtClean="0"/>
              <a:t>Centric</a:t>
            </a:r>
            <a:endParaRPr lang="de-DE" dirty="0"/>
          </a:p>
        </p:txBody>
      </p:sp>
      <p:grpSp>
        <p:nvGrpSpPr>
          <p:cNvPr id="75" name="Gruppieren 74"/>
          <p:cNvGrpSpPr/>
          <p:nvPr/>
        </p:nvGrpSpPr>
        <p:grpSpPr>
          <a:xfrm>
            <a:off x="888277" y="2732392"/>
            <a:ext cx="1605371" cy="1451008"/>
            <a:chOff x="1254035" y="2845609"/>
            <a:chExt cx="1605371" cy="1451008"/>
          </a:xfrm>
        </p:grpSpPr>
        <p:sp>
          <p:nvSpPr>
            <p:cNvPr id="11" name="Ellipse 10"/>
            <p:cNvSpPr/>
            <p:nvPr/>
          </p:nvSpPr>
          <p:spPr>
            <a:xfrm>
              <a:off x="1254035" y="2845609"/>
              <a:ext cx="313508" cy="313508"/>
            </a:xfrm>
            <a:prstGeom prst="ellipse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12" name="Ellipse 11"/>
            <p:cNvSpPr/>
            <p:nvPr/>
          </p:nvSpPr>
          <p:spPr>
            <a:xfrm>
              <a:off x="1254035" y="3983109"/>
              <a:ext cx="313508" cy="313508"/>
            </a:xfrm>
            <a:prstGeom prst="ellipse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13" name="Ellipse 12"/>
            <p:cNvSpPr/>
            <p:nvPr/>
          </p:nvSpPr>
          <p:spPr>
            <a:xfrm>
              <a:off x="2545898" y="2845609"/>
              <a:ext cx="313508" cy="313508"/>
            </a:xfrm>
            <a:prstGeom prst="ellipse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24" name="Ellipse 23"/>
            <p:cNvSpPr/>
            <p:nvPr/>
          </p:nvSpPr>
          <p:spPr>
            <a:xfrm>
              <a:off x="2545898" y="3983109"/>
              <a:ext cx="313508" cy="313508"/>
            </a:xfrm>
            <a:prstGeom prst="ellipse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cxnSp>
          <p:nvCxnSpPr>
            <p:cNvPr id="26" name="Gerade Verbindung mit Pfeil 25"/>
            <p:cNvCxnSpPr>
              <a:stCxn id="11" idx="6"/>
              <a:endCxn id="13" idx="2"/>
            </p:cNvCxnSpPr>
            <p:nvPr/>
          </p:nvCxnSpPr>
          <p:spPr>
            <a:xfrm>
              <a:off x="1567543" y="3002363"/>
              <a:ext cx="978355" cy="0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8" name="Gerade Verbindung mit Pfeil 27"/>
            <p:cNvCxnSpPr>
              <a:stCxn id="11" idx="4"/>
              <a:endCxn id="12" idx="0"/>
            </p:cNvCxnSpPr>
            <p:nvPr/>
          </p:nvCxnSpPr>
          <p:spPr>
            <a:xfrm>
              <a:off x="1410789" y="3159117"/>
              <a:ext cx="0" cy="823992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0" name="Gerade Verbindung mit Pfeil 29"/>
            <p:cNvCxnSpPr>
              <a:stCxn id="12" idx="7"/>
              <a:endCxn id="13" idx="3"/>
            </p:cNvCxnSpPr>
            <p:nvPr/>
          </p:nvCxnSpPr>
          <p:spPr>
            <a:xfrm flipV="1">
              <a:off x="1521631" y="3113205"/>
              <a:ext cx="1070179" cy="915816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2" name="Gerade Verbindung mit Pfeil 31"/>
            <p:cNvCxnSpPr>
              <a:stCxn id="13" idx="4"/>
              <a:endCxn id="24" idx="0"/>
            </p:cNvCxnSpPr>
            <p:nvPr/>
          </p:nvCxnSpPr>
          <p:spPr>
            <a:xfrm>
              <a:off x="2702652" y="3159117"/>
              <a:ext cx="0" cy="823992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" name="Gerade Verbindung mit Pfeil 33"/>
            <p:cNvCxnSpPr>
              <a:stCxn id="24" idx="1"/>
              <a:endCxn id="11" idx="5"/>
            </p:cNvCxnSpPr>
            <p:nvPr/>
          </p:nvCxnSpPr>
          <p:spPr>
            <a:xfrm flipH="1" flipV="1">
              <a:off x="1521631" y="3113205"/>
              <a:ext cx="1070179" cy="915816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59" name="Rechteck 58"/>
            <p:cNvSpPr/>
            <p:nvPr/>
          </p:nvSpPr>
          <p:spPr>
            <a:xfrm>
              <a:off x="2616150" y="2961088"/>
              <a:ext cx="187325" cy="82550"/>
            </a:xfrm>
            <a:prstGeom prst="rect">
              <a:avLst/>
            </a:prstGeom>
          </p:spPr>
          <p:style>
            <a:lnRef idx="2">
              <a:schemeClr val="accent6">
                <a:shade val="50000"/>
              </a:schemeClr>
            </a:lnRef>
            <a:fillRef idx="1">
              <a:schemeClr val="accent6"/>
            </a:fillRef>
            <a:effectRef idx="0">
              <a:schemeClr val="accent6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60" name="Rechteck 59"/>
            <p:cNvSpPr/>
            <p:nvPr/>
          </p:nvSpPr>
          <p:spPr>
            <a:xfrm>
              <a:off x="1317127" y="2966647"/>
              <a:ext cx="187325" cy="82550"/>
            </a:xfrm>
            <a:prstGeom prst="rect">
              <a:avLst/>
            </a:prstGeom>
          </p:spPr>
          <p:style>
            <a:lnRef idx="2">
              <a:schemeClr val="accent6">
                <a:shade val="50000"/>
              </a:schemeClr>
            </a:lnRef>
            <a:fillRef idx="1">
              <a:schemeClr val="accent6"/>
            </a:fillRef>
            <a:effectRef idx="0">
              <a:schemeClr val="accent6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61" name="Rechteck 60"/>
            <p:cNvSpPr/>
            <p:nvPr/>
          </p:nvSpPr>
          <p:spPr>
            <a:xfrm>
              <a:off x="2608989" y="4105380"/>
              <a:ext cx="187325" cy="82550"/>
            </a:xfrm>
            <a:prstGeom prst="rect">
              <a:avLst/>
            </a:prstGeom>
          </p:spPr>
          <p:style>
            <a:lnRef idx="2">
              <a:schemeClr val="accent6">
                <a:shade val="50000"/>
              </a:schemeClr>
            </a:lnRef>
            <a:fillRef idx="1">
              <a:schemeClr val="accent6"/>
            </a:fillRef>
            <a:effectRef idx="0">
              <a:schemeClr val="accent6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62" name="Rechteck 61"/>
            <p:cNvSpPr/>
            <p:nvPr/>
          </p:nvSpPr>
          <p:spPr>
            <a:xfrm>
              <a:off x="1315858" y="4115347"/>
              <a:ext cx="187325" cy="82550"/>
            </a:xfrm>
            <a:prstGeom prst="rect">
              <a:avLst/>
            </a:prstGeom>
          </p:spPr>
          <p:style>
            <a:lnRef idx="2">
              <a:schemeClr val="accent6">
                <a:shade val="50000"/>
              </a:schemeClr>
            </a:lnRef>
            <a:fillRef idx="1">
              <a:schemeClr val="accent6"/>
            </a:fillRef>
            <a:effectRef idx="0">
              <a:schemeClr val="accent6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</p:grpSp>
      <p:grpSp>
        <p:nvGrpSpPr>
          <p:cNvPr id="76" name="Gruppieren 75"/>
          <p:cNvGrpSpPr/>
          <p:nvPr/>
        </p:nvGrpSpPr>
        <p:grpSpPr>
          <a:xfrm>
            <a:off x="3208355" y="2863027"/>
            <a:ext cx="1329495" cy="1183412"/>
            <a:chOff x="3556695" y="2845609"/>
            <a:chExt cx="1329495" cy="1183412"/>
          </a:xfrm>
        </p:grpSpPr>
        <p:sp>
          <p:nvSpPr>
            <p:cNvPr id="14" name="Ellipse 13"/>
            <p:cNvSpPr/>
            <p:nvPr/>
          </p:nvSpPr>
          <p:spPr>
            <a:xfrm>
              <a:off x="3556695" y="2845609"/>
              <a:ext cx="313508" cy="313508"/>
            </a:xfrm>
            <a:prstGeom prst="ellipse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15" name="Ellipse 14"/>
            <p:cNvSpPr/>
            <p:nvPr/>
          </p:nvSpPr>
          <p:spPr>
            <a:xfrm>
              <a:off x="4572682" y="2845609"/>
              <a:ext cx="313508" cy="313508"/>
            </a:xfrm>
            <a:prstGeom prst="ellipse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16" name="Rechteck 15"/>
            <p:cNvSpPr/>
            <p:nvPr/>
          </p:nvSpPr>
          <p:spPr>
            <a:xfrm>
              <a:off x="3886874" y="3645686"/>
              <a:ext cx="685808" cy="383335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cxnSp>
          <p:nvCxnSpPr>
            <p:cNvPr id="36" name="Gerade Verbindung mit Pfeil 35"/>
            <p:cNvCxnSpPr>
              <a:stCxn id="14" idx="5"/>
            </p:cNvCxnSpPr>
            <p:nvPr/>
          </p:nvCxnSpPr>
          <p:spPr>
            <a:xfrm>
              <a:off x="3824291" y="3113205"/>
              <a:ext cx="249089" cy="526868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8" name="Gerade Verbindung mit Pfeil 37"/>
            <p:cNvCxnSpPr>
              <a:stCxn id="15" idx="3"/>
            </p:cNvCxnSpPr>
            <p:nvPr/>
          </p:nvCxnSpPr>
          <p:spPr>
            <a:xfrm flipH="1">
              <a:off x="4423918" y="3113205"/>
              <a:ext cx="194676" cy="526868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63" name="Rechteck 62"/>
            <p:cNvSpPr/>
            <p:nvPr/>
          </p:nvSpPr>
          <p:spPr>
            <a:xfrm>
              <a:off x="3619786" y="2961088"/>
              <a:ext cx="187325" cy="82550"/>
            </a:xfrm>
            <a:prstGeom prst="rect">
              <a:avLst/>
            </a:prstGeom>
          </p:spPr>
          <p:style>
            <a:lnRef idx="2">
              <a:schemeClr val="accent6">
                <a:shade val="50000"/>
              </a:schemeClr>
            </a:lnRef>
            <a:fillRef idx="1">
              <a:schemeClr val="accent6"/>
            </a:fillRef>
            <a:effectRef idx="0">
              <a:schemeClr val="accent6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64" name="Rechteck 63"/>
            <p:cNvSpPr/>
            <p:nvPr/>
          </p:nvSpPr>
          <p:spPr>
            <a:xfrm>
              <a:off x="4635773" y="2959573"/>
              <a:ext cx="187325" cy="82550"/>
            </a:xfrm>
            <a:prstGeom prst="rect">
              <a:avLst/>
            </a:prstGeom>
          </p:spPr>
          <p:style>
            <a:lnRef idx="2">
              <a:schemeClr val="accent6">
                <a:shade val="50000"/>
              </a:schemeClr>
            </a:lnRef>
            <a:fillRef idx="1">
              <a:schemeClr val="accent6"/>
            </a:fillRef>
            <a:effectRef idx="0">
              <a:schemeClr val="accent6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</p:grpSp>
      <p:grpSp>
        <p:nvGrpSpPr>
          <p:cNvPr id="77" name="Gruppieren 76"/>
          <p:cNvGrpSpPr/>
          <p:nvPr/>
        </p:nvGrpSpPr>
        <p:grpSpPr>
          <a:xfrm>
            <a:off x="5525202" y="2880767"/>
            <a:ext cx="1358024" cy="1043676"/>
            <a:chOff x="5829997" y="2793677"/>
            <a:chExt cx="1358024" cy="1043676"/>
          </a:xfrm>
        </p:grpSpPr>
        <p:sp>
          <p:nvSpPr>
            <p:cNvPr id="17" name="Ellipse 16"/>
            <p:cNvSpPr/>
            <p:nvPr/>
          </p:nvSpPr>
          <p:spPr>
            <a:xfrm>
              <a:off x="6375772" y="2793677"/>
              <a:ext cx="313508" cy="313508"/>
            </a:xfrm>
            <a:prstGeom prst="ellipse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18" name="Ellipse 17"/>
            <p:cNvSpPr/>
            <p:nvPr/>
          </p:nvSpPr>
          <p:spPr>
            <a:xfrm>
              <a:off x="5829997" y="3523845"/>
              <a:ext cx="313508" cy="313508"/>
            </a:xfrm>
            <a:prstGeom prst="ellipse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19" name="Ellipse 18"/>
            <p:cNvSpPr/>
            <p:nvPr/>
          </p:nvSpPr>
          <p:spPr>
            <a:xfrm>
              <a:off x="6874513" y="3523845"/>
              <a:ext cx="313508" cy="313508"/>
            </a:xfrm>
            <a:prstGeom prst="ellipse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cxnSp>
          <p:nvCxnSpPr>
            <p:cNvPr id="47" name="Gerade Verbindung mit Pfeil 46"/>
            <p:cNvCxnSpPr>
              <a:stCxn id="17" idx="3"/>
              <a:endCxn id="18" idx="7"/>
            </p:cNvCxnSpPr>
            <p:nvPr/>
          </p:nvCxnSpPr>
          <p:spPr>
            <a:xfrm flipH="1">
              <a:off x="6097593" y="3061273"/>
              <a:ext cx="324091" cy="508484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9" name="Gerade Verbindung mit Pfeil 48"/>
            <p:cNvCxnSpPr>
              <a:stCxn id="17" idx="5"/>
              <a:endCxn id="19" idx="1"/>
            </p:cNvCxnSpPr>
            <p:nvPr/>
          </p:nvCxnSpPr>
          <p:spPr>
            <a:xfrm>
              <a:off x="6643368" y="3061273"/>
              <a:ext cx="277057" cy="508484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65" name="Rechteck 64"/>
            <p:cNvSpPr/>
            <p:nvPr/>
          </p:nvSpPr>
          <p:spPr>
            <a:xfrm>
              <a:off x="6937981" y="3640073"/>
              <a:ext cx="187325" cy="82550"/>
            </a:xfrm>
            <a:prstGeom prst="rect">
              <a:avLst/>
            </a:prstGeom>
          </p:spPr>
          <p:style>
            <a:lnRef idx="2">
              <a:schemeClr val="accent6">
                <a:shade val="50000"/>
              </a:schemeClr>
            </a:lnRef>
            <a:fillRef idx="1">
              <a:schemeClr val="accent6"/>
            </a:fillRef>
            <a:effectRef idx="0">
              <a:schemeClr val="accent6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66" name="Rechteck 65"/>
            <p:cNvSpPr/>
            <p:nvPr/>
          </p:nvSpPr>
          <p:spPr>
            <a:xfrm>
              <a:off x="5893088" y="3640766"/>
              <a:ext cx="187325" cy="82550"/>
            </a:xfrm>
            <a:prstGeom prst="rect">
              <a:avLst/>
            </a:prstGeom>
          </p:spPr>
          <p:style>
            <a:lnRef idx="2">
              <a:schemeClr val="accent6">
                <a:shade val="50000"/>
              </a:schemeClr>
            </a:lnRef>
            <a:fillRef idx="1">
              <a:schemeClr val="accent6"/>
            </a:fillRef>
            <a:effectRef idx="0">
              <a:schemeClr val="accent6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67" name="Rechteck 66"/>
            <p:cNvSpPr/>
            <p:nvPr/>
          </p:nvSpPr>
          <p:spPr>
            <a:xfrm>
              <a:off x="6438863" y="2909156"/>
              <a:ext cx="187325" cy="82550"/>
            </a:xfrm>
            <a:prstGeom prst="rect">
              <a:avLst/>
            </a:prstGeom>
          </p:spPr>
          <p:style>
            <a:lnRef idx="2">
              <a:schemeClr val="accent6">
                <a:shade val="50000"/>
              </a:schemeClr>
            </a:lnRef>
            <a:fillRef idx="1">
              <a:schemeClr val="accent6"/>
            </a:fillRef>
            <a:effectRef idx="0">
              <a:schemeClr val="accent6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</p:grpSp>
      <p:grpSp>
        <p:nvGrpSpPr>
          <p:cNvPr id="78" name="Gruppieren 77"/>
          <p:cNvGrpSpPr/>
          <p:nvPr/>
        </p:nvGrpSpPr>
        <p:grpSpPr>
          <a:xfrm>
            <a:off x="7576924" y="2915595"/>
            <a:ext cx="1300944" cy="929639"/>
            <a:chOff x="7890428" y="2950431"/>
            <a:chExt cx="1300944" cy="929639"/>
          </a:xfrm>
        </p:grpSpPr>
        <p:sp>
          <p:nvSpPr>
            <p:cNvPr id="20" name="Ellipse 19"/>
            <p:cNvSpPr/>
            <p:nvPr/>
          </p:nvSpPr>
          <p:spPr>
            <a:xfrm>
              <a:off x="7900683" y="2950431"/>
              <a:ext cx="313508" cy="313508"/>
            </a:xfrm>
            <a:prstGeom prst="ellipse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21" name="Ellipse 20"/>
            <p:cNvSpPr/>
            <p:nvPr/>
          </p:nvSpPr>
          <p:spPr>
            <a:xfrm>
              <a:off x="7890428" y="3566562"/>
              <a:ext cx="313508" cy="313508"/>
            </a:xfrm>
            <a:prstGeom prst="ellipse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22" name="Ellipse 21"/>
            <p:cNvSpPr/>
            <p:nvPr/>
          </p:nvSpPr>
          <p:spPr>
            <a:xfrm>
              <a:off x="8877864" y="3210337"/>
              <a:ext cx="313508" cy="313508"/>
            </a:xfrm>
            <a:prstGeom prst="ellipse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50" name="Pfeil nach rechts 49"/>
            <p:cNvSpPr/>
            <p:nvPr/>
          </p:nvSpPr>
          <p:spPr>
            <a:xfrm>
              <a:off x="8498062" y="3296286"/>
              <a:ext cx="191581" cy="141610"/>
            </a:xfrm>
            <a:prstGeom prst="rightArrow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cxnSp>
          <p:nvCxnSpPr>
            <p:cNvPr id="52" name="Gerade Verbindung mit Pfeil 51"/>
            <p:cNvCxnSpPr>
              <a:stCxn id="50" idx="3"/>
              <a:endCxn id="22" idx="2"/>
            </p:cNvCxnSpPr>
            <p:nvPr/>
          </p:nvCxnSpPr>
          <p:spPr>
            <a:xfrm>
              <a:off x="8689643" y="3367091"/>
              <a:ext cx="188221" cy="0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4" name="Gerade Verbindung mit Pfeil 53"/>
            <p:cNvCxnSpPr>
              <a:stCxn id="21" idx="6"/>
              <a:endCxn id="50" idx="1"/>
            </p:cNvCxnSpPr>
            <p:nvPr/>
          </p:nvCxnSpPr>
          <p:spPr>
            <a:xfrm flipV="1">
              <a:off x="8203936" y="3367091"/>
              <a:ext cx="294126" cy="356225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6" name="Gerade Verbindung mit Pfeil 55"/>
            <p:cNvCxnSpPr>
              <a:stCxn id="20" idx="6"/>
              <a:endCxn id="50" idx="1"/>
            </p:cNvCxnSpPr>
            <p:nvPr/>
          </p:nvCxnSpPr>
          <p:spPr>
            <a:xfrm>
              <a:off x="8214191" y="3107185"/>
              <a:ext cx="283871" cy="259906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68" name="Rechteck 67"/>
            <p:cNvSpPr/>
            <p:nvPr/>
          </p:nvSpPr>
          <p:spPr>
            <a:xfrm>
              <a:off x="7963774" y="3063758"/>
              <a:ext cx="187325" cy="82550"/>
            </a:xfrm>
            <a:prstGeom prst="rect">
              <a:avLst/>
            </a:prstGeom>
          </p:spPr>
          <p:style>
            <a:lnRef idx="2">
              <a:schemeClr val="accent6">
                <a:shade val="50000"/>
              </a:schemeClr>
            </a:lnRef>
            <a:fillRef idx="1">
              <a:schemeClr val="accent6"/>
            </a:fillRef>
            <a:effectRef idx="0">
              <a:schemeClr val="accent6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69" name="Rechteck 68"/>
            <p:cNvSpPr/>
            <p:nvPr/>
          </p:nvSpPr>
          <p:spPr>
            <a:xfrm>
              <a:off x="7954716" y="3680599"/>
              <a:ext cx="187325" cy="82550"/>
            </a:xfrm>
            <a:prstGeom prst="rect">
              <a:avLst/>
            </a:prstGeom>
          </p:spPr>
          <p:style>
            <a:lnRef idx="2">
              <a:schemeClr val="accent6">
                <a:shade val="50000"/>
              </a:schemeClr>
            </a:lnRef>
            <a:fillRef idx="1">
              <a:schemeClr val="accent6"/>
            </a:fillRef>
            <a:effectRef idx="0">
              <a:schemeClr val="accent6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70" name="Rechteck 69"/>
            <p:cNvSpPr/>
            <p:nvPr/>
          </p:nvSpPr>
          <p:spPr>
            <a:xfrm>
              <a:off x="8938246" y="3326928"/>
              <a:ext cx="187325" cy="82550"/>
            </a:xfrm>
            <a:prstGeom prst="rect">
              <a:avLst/>
            </a:prstGeom>
          </p:spPr>
          <p:style>
            <a:lnRef idx="2">
              <a:schemeClr val="accent6">
                <a:shade val="50000"/>
              </a:schemeClr>
            </a:lnRef>
            <a:fillRef idx="1">
              <a:schemeClr val="accent6"/>
            </a:fillRef>
            <a:effectRef idx="0">
              <a:schemeClr val="accent6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</p:grpSp>
      <p:grpSp>
        <p:nvGrpSpPr>
          <p:cNvPr id="79" name="Gruppieren 78"/>
          <p:cNvGrpSpPr/>
          <p:nvPr/>
        </p:nvGrpSpPr>
        <p:grpSpPr>
          <a:xfrm>
            <a:off x="9429117" y="2935980"/>
            <a:ext cx="1711984" cy="872148"/>
            <a:chOff x="9794875" y="3049197"/>
            <a:chExt cx="1711984" cy="872148"/>
          </a:xfrm>
        </p:grpSpPr>
        <p:sp>
          <p:nvSpPr>
            <p:cNvPr id="23" name="Rechteck 22"/>
            <p:cNvSpPr/>
            <p:nvPr/>
          </p:nvSpPr>
          <p:spPr>
            <a:xfrm>
              <a:off x="9990843" y="3049197"/>
              <a:ext cx="1322605" cy="777398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de-DE" sz="1200" dirty="0" smtClean="0"/>
                <a:t>Datenmodell</a:t>
              </a:r>
            </a:p>
            <a:p>
              <a:pPr algn="ctr"/>
              <a:endParaRPr lang="de-DE" sz="1200" dirty="0"/>
            </a:p>
            <a:p>
              <a:pPr algn="ctr"/>
              <a:endParaRPr lang="de-DE" sz="1200" dirty="0" smtClean="0"/>
            </a:p>
            <a:p>
              <a:pPr algn="ctr"/>
              <a:endParaRPr lang="de-DE" sz="1200" dirty="0"/>
            </a:p>
          </p:txBody>
        </p:sp>
        <p:sp>
          <p:nvSpPr>
            <p:cNvPr id="58" name="Pfeil nach links und rechts 57"/>
            <p:cNvSpPr/>
            <p:nvPr/>
          </p:nvSpPr>
          <p:spPr>
            <a:xfrm>
              <a:off x="10179169" y="3536902"/>
              <a:ext cx="945952" cy="158117"/>
            </a:xfrm>
            <a:prstGeom prst="leftRightArrow">
              <a:avLst/>
            </a:prstGeom>
            <a:solidFill>
              <a:schemeClr val="accent4">
                <a:lumMod val="60000"/>
                <a:lumOff val="40000"/>
              </a:schemeClr>
            </a:solidFill>
            <a:ln>
              <a:solidFill>
                <a:schemeClr val="accent4">
                  <a:lumMod val="60000"/>
                  <a:lumOff val="4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de-DE" sz="800" dirty="0" smtClean="0">
                  <a:solidFill>
                    <a:schemeClr val="tx1"/>
                  </a:solidFill>
                </a:rPr>
                <a:t>BUS</a:t>
              </a:r>
              <a:endParaRPr lang="de-DE" sz="800" dirty="0">
                <a:solidFill>
                  <a:schemeClr val="tx1"/>
                </a:solidFill>
              </a:endParaRPr>
            </a:p>
          </p:txBody>
        </p:sp>
        <p:sp>
          <p:nvSpPr>
            <p:cNvPr id="71" name="Rechteck 70"/>
            <p:cNvSpPr/>
            <p:nvPr/>
          </p:nvSpPr>
          <p:spPr>
            <a:xfrm>
              <a:off x="10999807" y="3838795"/>
              <a:ext cx="187325" cy="82550"/>
            </a:xfrm>
            <a:prstGeom prst="rect">
              <a:avLst/>
            </a:prstGeom>
          </p:spPr>
          <p:style>
            <a:lnRef idx="2">
              <a:schemeClr val="accent6">
                <a:shade val="50000"/>
              </a:schemeClr>
            </a:lnRef>
            <a:fillRef idx="1">
              <a:schemeClr val="accent6"/>
            </a:fillRef>
            <a:effectRef idx="0">
              <a:schemeClr val="accent6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72" name="Rechteck 71"/>
            <p:cNvSpPr/>
            <p:nvPr/>
          </p:nvSpPr>
          <p:spPr>
            <a:xfrm>
              <a:off x="9794875" y="3396620"/>
              <a:ext cx="187325" cy="82550"/>
            </a:xfrm>
            <a:prstGeom prst="rect">
              <a:avLst/>
            </a:prstGeom>
          </p:spPr>
          <p:style>
            <a:lnRef idx="2">
              <a:schemeClr val="accent6">
                <a:shade val="50000"/>
              </a:schemeClr>
            </a:lnRef>
            <a:fillRef idx="1">
              <a:schemeClr val="accent6"/>
            </a:fillRef>
            <a:effectRef idx="0">
              <a:schemeClr val="accent6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73" name="Rechteck 72"/>
            <p:cNvSpPr/>
            <p:nvPr/>
          </p:nvSpPr>
          <p:spPr>
            <a:xfrm>
              <a:off x="11319534" y="3376639"/>
              <a:ext cx="187325" cy="82550"/>
            </a:xfrm>
            <a:prstGeom prst="rect">
              <a:avLst/>
            </a:prstGeom>
          </p:spPr>
          <p:style>
            <a:lnRef idx="2">
              <a:schemeClr val="accent6">
                <a:shade val="50000"/>
              </a:schemeClr>
            </a:lnRef>
            <a:fillRef idx="1">
              <a:schemeClr val="accent6"/>
            </a:fillRef>
            <a:effectRef idx="0">
              <a:schemeClr val="accent6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74" name="Rechteck 73"/>
            <p:cNvSpPr/>
            <p:nvPr/>
          </p:nvSpPr>
          <p:spPr>
            <a:xfrm>
              <a:off x="10144777" y="3838795"/>
              <a:ext cx="187325" cy="82550"/>
            </a:xfrm>
            <a:prstGeom prst="rect">
              <a:avLst/>
            </a:prstGeom>
          </p:spPr>
          <p:style>
            <a:lnRef idx="2">
              <a:schemeClr val="accent6">
                <a:shade val="50000"/>
              </a:schemeClr>
            </a:lnRef>
            <a:fillRef idx="1">
              <a:schemeClr val="accent6"/>
            </a:fillRef>
            <a:effectRef idx="0">
              <a:schemeClr val="accent6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</p:grpSp>
      <p:sp>
        <p:nvSpPr>
          <p:cNvPr id="80" name="Textfeld 79"/>
          <p:cNvSpPr txBox="1"/>
          <p:nvPr/>
        </p:nvSpPr>
        <p:spPr>
          <a:xfrm>
            <a:off x="1155873" y="4517316"/>
            <a:ext cx="1199468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dirty="0" smtClean="0"/>
              <a:t>TCP</a:t>
            </a:r>
          </a:p>
          <a:p>
            <a:r>
              <a:rPr lang="de-DE" dirty="0" smtClean="0"/>
              <a:t>Sockets</a:t>
            </a:r>
            <a:endParaRPr lang="de-DE" dirty="0"/>
          </a:p>
        </p:txBody>
      </p:sp>
      <p:sp>
        <p:nvSpPr>
          <p:cNvPr id="81" name="Textfeld 80"/>
          <p:cNvSpPr txBox="1"/>
          <p:nvPr/>
        </p:nvSpPr>
        <p:spPr>
          <a:xfrm>
            <a:off x="3475951" y="4517316"/>
            <a:ext cx="937355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dirty="0" smtClean="0"/>
              <a:t>MQTT</a:t>
            </a:r>
          </a:p>
          <a:p>
            <a:r>
              <a:rPr lang="de-DE" dirty="0" smtClean="0"/>
              <a:t>XMPP</a:t>
            </a:r>
          </a:p>
          <a:p>
            <a:r>
              <a:rPr lang="de-DE" dirty="0" smtClean="0"/>
              <a:t>OPC UA</a:t>
            </a:r>
          </a:p>
          <a:p>
            <a:r>
              <a:rPr lang="de-DE" dirty="0" smtClean="0"/>
              <a:t>CORBA</a:t>
            </a:r>
            <a:endParaRPr lang="de-DE" dirty="0"/>
          </a:p>
        </p:txBody>
      </p:sp>
      <p:sp>
        <p:nvSpPr>
          <p:cNvPr id="82" name="Textfeld 81"/>
          <p:cNvSpPr txBox="1"/>
          <p:nvPr/>
        </p:nvSpPr>
        <p:spPr>
          <a:xfrm>
            <a:off x="5722356" y="4443785"/>
            <a:ext cx="1328418" cy="147732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dirty="0" smtClean="0"/>
              <a:t>CAN BUS</a:t>
            </a:r>
          </a:p>
          <a:p>
            <a:r>
              <a:rPr lang="de-DE" dirty="0" smtClean="0"/>
              <a:t>SOME/IP</a:t>
            </a:r>
          </a:p>
          <a:p>
            <a:r>
              <a:rPr lang="de-DE" dirty="0" smtClean="0"/>
              <a:t>OPC UA</a:t>
            </a:r>
          </a:p>
          <a:p>
            <a:r>
              <a:rPr lang="de-DE" dirty="0" smtClean="0"/>
              <a:t>Zero MQ</a:t>
            </a:r>
          </a:p>
          <a:p>
            <a:r>
              <a:rPr lang="de-DE" dirty="0" smtClean="0"/>
              <a:t>JMS</a:t>
            </a:r>
            <a:endParaRPr lang="de-DE" dirty="0"/>
          </a:p>
        </p:txBody>
      </p:sp>
      <p:sp>
        <p:nvSpPr>
          <p:cNvPr id="83" name="Textfeld 82"/>
          <p:cNvSpPr txBox="1"/>
          <p:nvPr/>
        </p:nvSpPr>
        <p:spPr>
          <a:xfrm>
            <a:off x="7776163" y="4427219"/>
            <a:ext cx="937355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dirty="0" smtClean="0"/>
              <a:t>NATS.io</a:t>
            </a:r>
          </a:p>
          <a:p>
            <a:r>
              <a:rPr lang="de-DE" dirty="0" smtClean="0"/>
              <a:t>AMQP</a:t>
            </a:r>
          </a:p>
          <a:p>
            <a:endParaRPr lang="de-DE" dirty="0" smtClean="0"/>
          </a:p>
          <a:p>
            <a:endParaRPr lang="de-DE" dirty="0"/>
          </a:p>
        </p:txBody>
      </p:sp>
      <p:sp>
        <p:nvSpPr>
          <p:cNvPr id="84" name="Textfeld 83"/>
          <p:cNvSpPr txBox="1"/>
          <p:nvPr/>
        </p:nvSpPr>
        <p:spPr>
          <a:xfrm>
            <a:off x="10010335" y="4425734"/>
            <a:ext cx="93735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dirty="0" smtClean="0"/>
              <a:t>DDS</a:t>
            </a:r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3298446169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b="1" dirty="0" smtClean="0"/>
              <a:t>Data-</a:t>
            </a:r>
            <a:r>
              <a:rPr lang="de-DE" b="1" dirty="0" err="1" smtClean="0"/>
              <a:t>Centric</a:t>
            </a:r>
            <a:r>
              <a:rPr lang="de-DE" b="1" dirty="0" smtClean="0"/>
              <a:t> </a:t>
            </a:r>
            <a:r>
              <a:rPr lang="de-DE" b="1" dirty="0" err="1" smtClean="0"/>
              <a:t>erkklären</a:t>
            </a:r>
            <a:endParaRPr lang="de-DE" dirty="0"/>
          </a:p>
        </p:txBody>
      </p:sp>
      <p:sp>
        <p:nvSpPr>
          <p:cNvPr id="3" name="Inhaltsplatzhalt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de-DE" dirty="0" smtClean="0"/>
              <a:t>WICHTIG</a:t>
            </a:r>
            <a:endParaRPr lang="de-DE" dirty="0"/>
          </a:p>
        </p:txBody>
      </p:sp>
      <p:sp>
        <p:nvSpPr>
          <p:cNvPr id="4" name="Fußzeilenplatzhalt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nl-NL" smtClean="0"/>
              <a:t>C. Adolph - J.P. Kaatz - 2021</a:t>
            </a:r>
            <a:endParaRPr lang="de-DE"/>
          </a:p>
        </p:txBody>
      </p:sp>
      <p:sp>
        <p:nvSpPr>
          <p:cNvPr id="5" name="Foliennummernplatzhalt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D1A007C-F580-4FCE-902E-6189D8624F0F}" type="slidenum">
              <a:rPr lang="de-DE" smtClean="0"/>
              <a:t>5</a:t>
            </a:fld>
            <a:endParaRPr lang="de-DE"/>
          </a:p>
        </p:txBody>
      </p:sp>
      <p:grpSp>
        <p:nvGrpSpPr>
          <p:cNvPr id="6" name="Gruppieren 5"/>
          <p:cNvGrpSpPr/>
          <p:nvPr/>
        </p:nvGrpSpPr>
        <p:grpSpPr>
          <a:xfrm>
            <a:off x="7612442" y="2095308"/>
            <a:ext cx="3741358" cy="1905986"/>
            <a:chOff x="9794875" y="3049197"/>
            <a:chExt cx="1711984" cy="872148"/>
          </a:xfrm>
        </p:grpSpPr>
        <p:sp>
          <p:nvSpPr>
            <p:cNvPr id="7" name="Rechteck 6"/>
            <p:cNvSpPr/>
            <p:nvPr/>
          </p:nvSpPr>
          <p:spPr>
            <a:xfrm>
              <a:off x="9990843" y="3049197"/>
              <a:ext cx="1322605" cy="777398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de-DE" sz="1200" dirty="0" smtClean="0"/>
                <a:t>Datenmodell</a:t>
              </a:r>
            </a:p>
            <a:p>
              <a:pPr algn="ctr"/>
              <a:endParaRPr lang="de-DE" sz="1200" dirty="0"/>
            </a:p>
            <a:p>
              <a:pPr algn="ctr"/>
              <a:endParaRPr lang="de-DE" sz="1200" dirty="0" smtClean="0"/>
            </a:p>
            <a:p>
              <a:pPr algn="ctr"/>
              <a:endParaRPr lang="de-DE" sz="1200" dirty="0"/>
            </a:p>
          </p:txBody>
        </p:sp>
        <p:sp>
          <p:nvSpPr>
            <p:cNvPr id="8" name="Pfeil nach links und rechts 7"/>
            <p:cNvSpPr/>
            <p:nvPr/>
          </p:nvSpPr>
          <p:spPr>
            <a:xfrm>
              <a:off x="10179169" y="3536902"/>
              <a:ext cx="945952" cy="158117"/>
            </a:xfrm>
            <a:prstGeom prst="leftRightArrow">
              <a:avLst/>
            </a:prstGeom>
            <a:solidFill>
              <a:schemeClr val="accent4">
                <a:lumMod val="60000"/>
                <a:lumOff val="40000"/>
              </a:schemeClr>
            </a:solidFill>
            <a:ln>
              <a:solidFill>
                <a:schemeClr val="accent4">
                  <a:lumMod val="60000"/>
                  <a:lumOff val="4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de-DE" sz="800" dirty="0" smtClean="0">
                  <a:solidFill>
                    <a:schemeClr val="tx1"/>
                  </a:solidFill>
                </a:rPr>
                <a:t>BUS</a:t>
              </a:r>
              <a:endParaRPr lang="de-DE" sz="800" dirty="0">
                <a:solidFill>
                  <a:schemeClr val="tx1"/>
                </a:solidFill>
              </a:endParaRPr>
            </a:p>
          </p:txBody>
        </p:sp>
        <p:sp>
          <p:nvSpPr>
            <p:cNvPr id="9" name="Rechteck 8"/>
            <p:cNvSpPr/>
            <p:nvPr/>
          </p:nvSpPr>
          <p:spPr>
            <a:xfrm>
              <a:off x="10999807" y="3838795"/>
              <a:ext cx="187325" cy="82550"/>
            </a:xfrm>
            <a:prstGeom prst="rect">
              <a:avLst/>
            </a:prstGeom>
          </p:spPr>
          <p:style>
            <a:lnRef idx="2">
              <a:schemeClr val="accent6">
                <a:shade val="50000"/>
              </a:schemeClr>
            </a:lnRef>
            <a:fillRef idx="1">
              <a:schemeClr val="accent6"/>
            </a:fillRef>
            <a:effectRef idx="0">
              <a:schemeClr val="accent6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10" name="Rechteck 9"/>
            <p:cNvSpPr/>
            <p:nvPr/>
          </p:nvSpPr>
          <p:spPr>
            <a:xfrm>
              <a:off x="9794875" y="3396620"/>
              <a:ext cx="187325" cy="82550"/>
            </a:xfrm>
            <a:prstGeom prst="rect">
              <a:avLst/>
            </a:prstGeom>
          </p:spPr>
          <p:style>
            <a:lnRef idx="2">
              <a:schemeClr val="accent6">
                <a:shade val="50000"/>
              </a:schemeClr>
            </a:lnRef>
            <a:fillRef idx="1">
              <a:schemeClr val="accent6"/>
            </a:fillRef>
            <a:effectRef idx="0">
              <a:schemeClr val="accent6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11" name="Rechteck 10"/>
            <p:cNvSpPr/>
            <p:nvPr/>
          </p:nvSpPr>
          <p:spPr>
            <a:xfrm>
              <a:off x="11319534" y="3376639"/>
              <a:ext cx="187325" cy="82550"/>
            </a:xfrm>
            <a:prstGeom prst="rect">
              <a:avLst/>
            </a:prstGeom>
          </p:spPr>
          <p:style>
            <a:lnRef idx="2">
              <a:schemeClr val="accent6">
                <a:shade val="50000"/>
              </a:schemeClr>
            </a:lnRef>
            <a:fillRef idx="1">
              <a:schemeClr val="accent6"/>
            </a:fillRef>
            <a:effectRef idx="0">
              <a:schemeClr val="accent6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12" name="Rechteck 11"/>
            <p:cNvSpPr/>
            <p:nvPr/>
          </p:nvSpPr>
          <p:spPr>
            <a:xfrm>
              <a:off x="10144777" y="3838795"/>
              <a:ext cx="187325" cy="82550"/>
            </a:xfrm>
            <a:prstGeom prst="rect">
              <a:avLst/>
            </a:prstGeom>
          </p:spPr>
          <p:style>
            <a:lnRef idx="2">
              <a:schemeClr val="accent6">
                <a:shade val="50000"/>
              </a:schemeClr>
            </a:lnRef>
            <a:fillRef idx="1">
              <a:schemeClr val="accent6"/>
            </a:fillRef>
            <a:effectRef idx="0">
              <a:schemeClr val="accent6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</p:grpSp>
    </p:spTree>
    <p:extLst>
      <p:ext uri="{BB962C8B-B14F-4D97-AF65-F5344CB8AC3E}">
        <p14:creationId xmlns:p14="http://schemas.microsoft.com/office/powerpoint/2010/main" val="4170698782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 smtClean="0"/>
              <a:t>DDS Architektur - Modell</a:t>
            </a:r>
            <a:endParaRPr lang="de-DE" dirty="0"/>
          </a:p>
        </p:txBody>
      </p:sp>
      <p:sp>
        <p:nvSpPr>
          <p:cNvPr id="3" name="Inhaltsplatzhalt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de-DE" dirty="0" smtClean="0"/>
              <a:t>Auf welcher Ebene des OSI ISO befinden wir uns?</a:t>
            </a:r>
          </a:p>
          <a:p>
            <a:r>
              <a:rPr lang="de-DE" dirty="0"/>
              <a:t>Message-</a:t>
            </a:r>
            <a:r>
              <a:rPr lang="de-DE" dirty="0" err="1"/>
              <a:t>oriented</a:t>
            </a:r>
            <a:r>
              <a:rPr lang="de-DE" dirty="0"/>
              <a:t> </a:t>
            </a:r>
            <a:r>
              <a:rPr lang="de-DE" dirty="0" err="1"/>
              <a:t>middleware</a:t>
            </a:r>
            <a:endParaRPr lang="de-DE" dirty="0"/>
          </a:p>
          <a:p>
            <a:r>
              <a:rPr lang="de-DE" dirty="0" smtClean="0"/>
              <a:t>BILD</a:t>
            </a:r>
            <a:endParaRPr lang="de-DE" dirty="0" smtClean="0"/>
          </a:p>
          <a:p>
            <a:endParaRPr lang="de-DE" dirty="0"/>
          </a:p>
          <a:p>
            <a:endParaRPr lang="de-DE" dirty="0"/>
          </a:p>
        </p:txBody>
      </p:sp>
      <p:sp>
        <p:nvSpPr>
          <p:cNvPr id="4" name="Fußzeilenplatzhalt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nl-NL" smtClean="0"/>
              <a:t>C. Adolph - J.P. Kaatz - 2021</a:t>
            </a:r>
            <a:endParaRPr lang="de-DE"/>
          </a:p>
        </p:txBody>
      </p:sp>
      <p:sp>
        <p:nvSpPr>
          <p:cNvPr id="5" name="Foliennummernplatzhalt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D1A007C-F580-4FCE-902E-6189D8624F0F}" type="slidenum">
              <a:rPr lang="de-DE" smtClean="0"/>
              <a:t>6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4005688388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 smtClean="0"/>
              <a:t>DDS Konzepte</a:t>
            </a:r>
            <a:endParaRPr lang="de-DE" dirty="0"/>
          </a:p>
        </p:txBody>
      </p:sp>
      <p:sp>
        <p:nvSpPr>
          <p:cNvPr id="3" name="Inhaltsplatzhalt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de-DE" dirty="0" smtClean="0"/>
              <a:t>DCPS</a:t>
            </a:r>
          </a:p>
          <a:p>
            <a:r>
              <a:rPr lang="de-DE" dirty="0" smtClean="0"/>
              <a:t>DLRL (nicht verwechseln mit TL;DR)</a:t>
            </a:r>
          </a:p>
          <a:p>
            <a:r>
              <a:rPr lang="de-DE" dirty="0" smtClean="0"/>
              <a:t>TOPIC</a:t>
            </a:r>
          </a:p>
          <a:p>
            <a:r>
              <a:rPr lang="de-DE" dirty="0" smtClean="0"/>
              <a:t>DOMAIN</a:t>
            </a:r>
          </a:p>
          <a:p>
            <a:r>
              <a:rPr lang="de-DE" dirty="0" smtClean="0"/>
              <a:t>PUBLISHER</a:t>
            </a:r>
          </a:p>
          <a:p>
            <a:r>
              <a:rPr lang="de-DE" dirty="0" smtClean="0"/>
              <a:t>SUBSCRIBER</a:t>
            </a:r>
          </a:p>
          <a:p>
            <a:endParaRPr lang="de-DE" dirty="0"/>
          </a:p>
          <a:p>
            <a:r>
              <a:rPr lang="de-DE" dirty="0" smtClean="0"/>
              <a:t>???????</a:t>
            </a:r>
            <a:endParaRPr lang="de-DE" dirty="0"/>
          </a:p>
        </p:txBody>
      </p:sp>
      <p:sp>
        <p:nvSpPr>
          <p:cNvPr id="4" name="Fußzeilenplatzhalt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nl-NL" smtClean="0"/>
              <a:t>C. Adolph - J.P. Kaatz - 2021</a:t>
            </a:r>
            <a:endParaRPr lang="de-DE"/>
          </a:p>
        </p:txBody>
      </p:sp>
      <p:sp>
        <p:nvSpPr>
          <p:cNvPr id="5" name="Foliennummernplatzhalt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D1A007C-F580-4FCE-902E-6189D8624F0F}" type="slidenum">
              <a:rPr lang="de-DE" smtClean="0"/>
              <a:t>7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561935396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 err="1" smtClean="0"/>
              <a:t>Tooles</a:t>
            </a:r>
            <a:r>
              <a:rPr lang="de-DE" dirty="0" smtClean="0"/>
              <a:t> Bild von zwei Teilnehmern die </a:t>
            </a:r>
            <a:r>
              <a:rPr lang="de-DE" dirty="0" err="1" smtClean="0"/>
              <a:t>kommunizierne</a:t>
            </a:r>
            <a:endParaRPr lang="de-DE" dirty="0"/>
          </a:p>
        </p:txBody>
      </p:sp>
      <p:sp>
        <p:nvSpPr>
          <p:cNvPr id="3" name="Inhaltsplatzhalt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de-DE" dirty="0"/>
          </a:p>
        </p:txBody>
      </p:sp>
      <p:sp>
        <p:nvSpPr>
          <p:cNvPr id="4" name="Fußzeilenplatzhalt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nl-NL" smtClean="0"/>
              <a:t>C. Adolph - J.P. Kaatz - 2021</a:t>
            </a:r>
            <a:endParaRPr lang="de-DE"/>
          </a:p>
        </p:txBody>
      </p:sp>
      <p:sp>
        <p:nvSpPr>
          <p:cNvPr id="5" name="Foliennummernplatzhalt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D1A007C-F580-4FCE-902E-6189D8624F0F}" type="slidenum">
              <a:rPr lang="de-DE" smtClean="0"/>
              <a:t>8</a:t>
            </a:fld>
            <a:endParaRPr lang="de-DE"/>
          </a:p>
        </p:txBody>
      </p:sp>
      <p:sp>
        <p:nvSpPr>
          <p:cNvPr id="6" name="Wolke 5"/>
          <p:cNvSpPr/>
          <p:nvPr/>
        </p:nvSpPr>
        <p:spPr>
          <a:xfrm>
            <a:off x="4622800" y="3429000"/>
            <a:ext cx="2895600" cy="1739900"/>
          </a:xfrm>
          <a:prstGeom prst="cloud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dirty="0" smtClean="0"/>
              <a:t>Global Data Space</a:t>
            </a:r>
            <a:endParaRPr lang="de-DE" dirty="0"/>
          </a:p>
        </p:txBody>
      </p:sp>
      <p:sp>
        <p:nvSpPr>
          <p:cNvPr id="7" name="Abgerundetes Rechteck 6"/>
          <p:cNvSpPr/>
          <p:nvPr/>
        </p:nvSpPr>
        <p:spPr>
          <a:xfrm>
            <a:off x="8369300" y="2755900"/>
            <a:ext cx="1143000" cy="914400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948831020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 smtClean="0"/>
              <a:t>J: ausgewählte DDS </a:t>
            </a:r>
            <a:r>
              <a:rPr lang="de-DE" dirty="0" err="1" smtClean="0"/>
              <a:t>QoS</a:t>
            </a:r>
            <a:r>
              <a:rPr lang="de-DE" dirty="0" smtClean="0"/>
              <a:t> Beispiele</a:t>
            </a:r>
            <a:endParaRPr lang="de-DE" dirty="0"/>
          </a:p>
        </p:txBody>
      </p:sp>
      <p:sp>
        <p:nvSpPr>
          <p:cNvPr id="3" name="Inhaltsplatzhalt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de-DE" dirty="0" err="1" smtClean="0"/>
              <a:t>History</a:t>
            </a:r>
            <a:endParaRPr lang="de-DE" dirty="0" smtClean="0"/>
          </a:p>
          <a:p>
            <a:r>
              <a:rPr lang="de-DE" dirty="0" smtClean="0"/>
              <a:t>Discovery</a:t>
            </a:r>
          </a:p>
          <a:p>
            <a:r>
              <a:rPr lang="de-DE" dirty="0" err="1" smtClean="0"/>
              <a:t>Reliable</a:t>
            </a:r>
            <a:r>
              <a:rPr lang="de-DE" dirty="0" smtClean="0"/>
              <a:t> Data</a:t>
            </a:r>
          </a:p>
          <a:p>
            <a:r>
              <a:rPr lang="de-DE" dirty="0" smtClean="0"/>
              <a:t>Filter</a:t>
            </a:r>
            <a:endParaRPr lang="de-DE" dirty="0"/>
          </a:p>
        </p:txBody>
      </p:sp>
      <p:sp>
        <p:nvSpPr>
          <p:cNvPr id="4" name="Fußzeilenplatzhalt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nl-NL" smtClean="0"/>
              <a:t>C. Adolph - J.P. Kaatz - 2021</a:t>
            </a:r>
            <a:endParaRPr lang="de-DE"/>
          </a:p>
        </p:txBody>
      </p:sp>
      <p:sp>
        <p:nvSpPr>
          <p:cNvPr id="5" name="Foliennummernplatzhalt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D1A007C-F580-4FCE-902E-6189D8624F0F}" type="slidenum">
              <a:rPr lang="de-DE" smtClean="0"/>
              <a:t>9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324785858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 smtClean="0"/>
              <a:t>DDS Implementierungen</a:t>
            </a:r>
            <a:endParaRPr lang="de-DE" dirty="0"/>
          </a:p>
        </p:txBody>
      </p:sp>
      <p:sp>
        <p:nvSpPr>
          <p:cNvPr id="3" name="Inhaltsplatzhalt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de-DE" dirty="0" err="1" smtClean="0"/>
              <a:t>OpenDDS</a:t>
            </a:r>
            <a:endParaRPr lang="de-DE" dirty="0" smtClean="0"/>
          </a:p>
          <a:p>
            <a:r>
              <a:rPr lang="de-DE" dirty="0" smtClean="0"/>
              <a:t>DDS </a:t>
            </a:r>
            <a:r>
              <a:rPr lang="de-DE" dirty="0" err="1" smtClean="0"/>
              <a:t>for</a:t>
            </a:r>
            <a:r>
              <a:rPr lang="de-DE" dirty="0" smtClean="0"/>
              <a:t> TAO</a:t>
            </a:r>
          </a:p>
          <a:p>
            <a:r>
              <a:rPr lang="de-DE" dirty="0" smtClean="0"/>
              <a:t>RTI Data Distribution Service (NDDS)</a:t>
            </a:r>
          </a:p>
          <a:p>
            <a:r>
              <a:rPr lang="de-DE" dirty="0" smtClean="0"/>
              <a:t>BEE DDS</a:t>
            </a:r>
          </a:p>
          <a:p>
            <a:r>
              <a:rPr lang="de-DE" dirty="0" smtClean="0"/>
              <a:t>DDS </a:t>
            </a:r>
            <a:r>
              <a:rPr lang="de-DE" dirty="0" err="1" smtClean="0"/>
              <a:t>for</a:t>
            </a:r>
            <a:r>
              <a:rPr lang="de-DE" dirty="0" smtClean="0"/>
              <a:t> ROS</a:t>
            </a:r>
            <a:endParaRPr lang="de-DE" dirty="0"/>
          </a:p>
        </p:txBody>
      </p:sp>
      <p:sp>
        <p:nvSpPr>
          <p:cNvPr id="4" name="Fußzeilenplatzhalt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nl-NL" smtClean="0"/>
              <a:t>C. Adolph - J.P. Kaatz - 2021</a:t>
            </a:r>
            <a:endParaRPr lang="de-DE"/>
          </a:p>
        </p:txBody>
      </p:sp>
      <p:sp>
        <p:nvSpPr>
          <p:cNvPr id="5" name="Foliennummernplatzhalt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D1A007C-F580-4FCE-902E-6189D8624F0F}" type="slidenum">
              <a:rPr lang="de-DE" smtClean="0"/>
              <a:t>10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373674930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2000"/>
    </mc:Choice>
    <mc:Fallback>
      <p:transition spd="slow"/>
    </mc:Fallback>
  </mc:AlternateContent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 smtClean="0"/>
              <a:t>DDS Interoperabilität</a:t>
            </a:r>
            <a:endParaRPr lang="de-DE" dirty="0"/>
          </a:p>
        </p:txBody>
      </p:sp>
      <p:sp>
        <p:nvSpPr>
          <p:cNvPr id="3" name="Inhaltsplatzhalt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de-DE" dirty="0" smtClean="0"/>
              <a:t>ROS2 vor allem -&gt; Autonome Systeme</a:t>
            </a:r>
            <a:endParaRPr lang="de-DE" dirty="0"/>
          </a:p>
        </p:txBody>
      </p:sp>
      <p:sp>
        <p:nvSpPr>
          <p:cNvPr id="4" name="Fußzeilenplatzhalt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nl-NL" smtClean="0"/>
              <a:t>C. Adolph - J.P. Kaatz - 2021</a:t>
            </a:r>
            <a:endParaRPr lang="de-DE"/>
          </a:p>
        </p:txBody>
      </p:sp>
      <p:sp>
        <p:nvSpPr>
          <p:cNvPr id="5" name="Foliennummernplatzhalt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D1A007C-F580-4FCE-902E-6189D8624F0F}" type="slidenum">
              <a:rPr lang="de-DE" smtClean="0"/>
              <a:t>11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550951354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el 5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 smtClean="0"/>
              <a:t>Vielen Dank für die Aufmerksamkeit</a:t>
            </a:r>
            <a:endParaRPr lang="de-DE" dirty="0"/>
          </a:p>
        </p:txBody>
      </p:sp>
      <p:sp>
        <p:nvSpPr>
          <p:cNvPr id="7" name="Textplatzhalter 6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4" name="Fußzeilenplatzhalt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nl-NL" smtClean="0"/>
              <a:t>C. Adolph - J.P. Kaatz - 2021</a:t>
            </a:r>
            <a:endParaRPr lang="de-DE"/>
          </a:p>
        </p:txBody>
      </p:sp>
      <p:sp>
        <p:nvSpPr>
          <p:cNvPr id="5" name="Foliennummernplatzhalt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D1A007C-F580-4FCE-902E-6189D8624F0F}" type="slidenum">
              <a:rPr lang="de-DE" smtClean="0"/>
              <a:t>12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849382148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el 5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 smtClean="0"/>
              <a:t>Quellen</a:t>
            </a:r>
            <a:endParaRPr lang="de-DE" dirty="0"/>
          </a:p>
        </p:txBody>
      </p:sp>
      <p:sp>
        <p:nvSpPr>
          <p:cNvPr id="7" name="Inhaltsplatzhalter 6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de-DE" dirty="0"/>
              <a:t>OMG </a:t>
            </a:r>
            <a:r>
              <a:rPr lang="de-DE" dirty="0" smtClean="0"/>
              <a:t>Data </a:t>
            </a:r>
            <a:r>
              <a:rPr lang="de-DE" dirty="0"/>
              <a:t>Distribution Service Version </a:t>
            </a:r>
            <a:r>
              <a:rPr lang="de-DE" dirty="0" smtClean="0"/>
              <a:t>1.4 (Link)</a:t>
            </a:r>
          </a:p>
          <a:p>
            <a:r>
              <a:rPr lang="de-DE" dirty="0" smtClean="0"/>
              <a:t>DDS </a:t>
            </a:r>
            <a:r>
              <a:rPr lang="de-DE" dirty="0" err="1" smtClean="0"/>
              <a:t>Foundation</a:t>
            </a:r>
            <a:r>
              <a:rPr lang="de-DE" dirty="0" smtClean="0"/>
              <a:t> (Link)</a:t>
            </a:r>
          </a:p>
          <a:p>
            <a:r>
              <a:rPr lang="de-DE" dirty="0" smtClean="0"/>
              <a:t>Penis </a:t>
            </a:r>
            <a:r>
              <a:rPr lang="de-DE" dirty="0" err="1" smtClean="0"/>
              <a:t>informatik</a:t>
            </a:r>
            <a:r>
              <a:rPr lang="de-DE" dirty="0" smtClean="0"/>
              <a:t> </a:t>
            </a:r>
            <a:r>
              <a:rPr lang="de-DE" dirty="0" err="1" smtClean="0"/>
              <a:t>seite</a:t>
            </a:r>
            <a:r>
              <a:rPr lang="de-DE" dirty="0" smtClean="0"/>
              <a:t> (Link)</a:t>
            </a:r>
            <a:endParaRPr lang="de-DE" dirty="0"/>
          </a:p>
        </p:txBody>
      </p:sp>
      <p:sp>
        <p:nvSpPr>
          <p:cNvPr id="4" name="Fußzeilenplatzhalt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nl-NL" smtClean="0"/>
              <a:t>C. Adolph - J.P. Kaatz - 2021</a:t>
            </a:r>
            <a:endParaRPr lang="de-DE" dirty="0"/>
          </a:p>
        </p:txBody>
      </p:sp>
      <p:sp>
        <p:nvSpPr>
          <p:cNvPr id="5" name="Foliennummernplatzhalt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D1A007C-F580-4FCE-902E-6189D8624F0F}" type="slidenum">
              <a:rPr lang="de-DE" smtClean="0"/>
              <a:t>13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957887386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theme/theme1.xml><?xml version="1.0" encoding="utf-8"?>
<a:theme xmlns:a="http://schemas.openxmlformats.org/drawingml/2006/main" name="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0</TotalTime>
  <Words>356</Words>
  <Application>Microsoft Office PowerPoint</Application>
  <PresentationFormat>Breitbild</PresentationFormat>
  <Paragraphs>107</Paragraphs>
  <Slides>13</Slides>
  <Notes>0</Notes>
  <HiddenSlides>1</HiddenSlides>
  <MMClips>0</MMClips>
  <ScaleCrop>false</ScaleCrop>
  <HeadingPairs>
    <vt:vector size="6" baseType="variant">
      <vt:variant>
        <vt:lpstr>Verwendete Schriftarten</vt:lpstr>
      </vt:variant>
      <vt:variant>
        <vt:i4>4</vt:i4>
      </vt:variant>
      <vt:variant>
        <vt:lpstr>Design</vt:lpstr>
      </vt:variant>
      <vt:variant>
        <vt:i4>1</vt:i4>
      </vt:variant>
      <vt:variant>
        <vt:lpstr>Folientitel</vt:lpstr>
      </vt:variant>
      <vt:variant>
        <vt:i4>13</vt:i4>
      </vt:variant>
    </vt:vector>
  </HeadingPairs>
  <TitlesOfParts>
    <vt:vector size="18" baseType="lpstr">
      <vt:lpstr>Arial</vt:lpstr>
      <vt:lpstr>Calibri</vt:lpstr>
      <vt:lpstr>Calibri Light</vt:lpstr>
      <vt:lpstr>Wingdings</vt:lpstr>
      <vt:lpstr>Office</vt:lpstr>
      <vt:lpstr>Data Distribution Service (DDS) </vt:lpstr>
      <vt:lpstr>Agenda</vt:lpstr>
      <vt:lpstr>Was ist DDS?</vt:lpstr>
      <vt:lpstr>kurzer Exkurs Netzwerkevolution evtl Datenmengen</vt:lpstr>
      <vt:lpstr>Data-Centric erkklären</vt:lpstr>
      <vt:lpstr>DDS Architektur - Modell</vt:lpstr>
      <vt:lpstr>DDS Konzepte</vt:lpstr>
      <vt:lpstr>Tooles Bild von zwei Teilnehmern die kommunizierne</vt:lpstr>
      <vt:lpstr>J: ausgewählte DDS QoS Beispiele</vt:lpstr>
      <vt:lpstr>DDS Implementierungen</vt:lpstr>
      <vt:lpstr>DDS Interoperabilität</vt:lpstr>
      <vt:lpstr>Vielen Dank für die Aufmerksamkeit</vt:lpstr>
      <vt:lpstr>Quellen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RFID in der Industrie 4.0</dc:title>
  <dc:creator>cka</dc:creator>
  <cp:lastModifiedBy>cka</cp:lastModifiedBy>
  <cp:revision>34</cp:revision>
  <dcterms:created xsi:type="dcterms:W3CDTF">2021-05-09T16:56:35Z</dcterms:created>
  <dcterms:modified xsi:type="dcterms:W3CDTF">2021-06-06T17:19:39Z</dcterms:modified>
</cp:coreProperties>
</file>