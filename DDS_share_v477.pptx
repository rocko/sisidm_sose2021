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8"/>
  </p:notesMasterIdLst>
  <p:sldIdLst>
    <p:sldId id="256" r:id="rId2"/>
    <p:sldId id="257" r:id="rId3"/>
    <p:sldId id="267" r:id="rId4"/>
    <p:sldId id="281" r:id="rId5"/>
    <p:sldId id="284" r:id="rId6"/>
    <p:sldId id="283" r:id="rId7"/>
    <p:sldId id="286" r:id="rId8"/>
    <p:sldId id="269" r:id="rId9"/>
    <p:sldId id="282" r:id="rId10"/>
    <p:sldId id="288" r:id="rId11"/>
    <p:sldId id="289" r:id="rId12"/>
    <p:sldId id="273" r:id="rId13"/>
    <p:sldId id="290" r:id="rId14"/>
    <p:sldId id="278" r:id="rId15"/>
    <p:sldId id="265" r:id="rId16"/>
    <p:sldId id="26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2FC3C-7D38-4829-9BC3-2CBE8CF413EB}" type="datetimeFigureOut">
              <a:rPr lang="de-DE" smtClean="0"/>
              <a:t>07.06.2021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C9E6-953D-49B2-9105-9E4CE2D8B9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81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9664-8E16-4964-B763-A256EFC0FC43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" y="1122363"/>
            <a:ext cx="12192000" cy="24796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60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C2A0-CEAF-4A02-A7C8-41043D91283A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17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30D4-D963-4229-9782-66CBD25EFA5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73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9D27-13E8-4198-8A5A-354C9E832E3B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20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F9B-7546-4CE5-AFF2-8697241E3E06}" type="datetime1">
              <a:rPr lang="de-DE" smtClean="0"/>
              <a:t>07.06.2021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61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F8029-E8C4-4B9F-A2B7-6B77C0664E0A}" type="datetime1">
              <a:rPr lang="de-DE" smtClean="0"/>
              <a:t>07.06.2021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4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20C63-149E-4464-BF2B-98A675E601F0}" type="datetime1">
              <a:rPr lang="de-DE" smtClean="0"/>
              <a:t>07.06.2021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73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42E4-09EB-4FFF-B06F-730EE78061B4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81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FF4-E62B-4E5C-853F-7E51C47530FC}" type="datetime1">
              <a:rPr lang="de-DE" smtClean="0"/>
              <a:t>07.06.2021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3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3850-DCB7-4FC8-9407-BA6D9F3590BC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88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5D3-0E97-4D9F-A6CE-BC38290D5412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3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EAC8-8EDF-4B57-BFB0-7DCF4E71DF18}" type="datetime1">
              <a:rPr lang="de-DE" smtClean="0"/>
              <a:t>07.06.2021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0443410" y="0"/>
            <a:ext cx="174859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930" y="75635"/>
            <a:ext cx="1557742" cy="47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0" y="1"/>
            <a:ext cx="10443411" cy="548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30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D</a:t>
            </a:r>
            <a:r>
              <a:rPr lang="de-DE" dirty="0"/>
              <a:t>ata </a:t>
            </a:r>
            <a:r>
              <a:rPr lang="de-DE" b="1" dirty="0"/>
              <a:t>D</a:t>
            </a:r>
            <a:r>
              <a:rPr lang="de-DE" dirty="0"/>
              <a:t>istribution </a:t>
            </a:r>
            <a:r>
              <a:rPr lang="de-DE" b="1" dirty="0" smtClean="0"/>
              <a:t>S</a:t>
            </a:r>
            <a:r>
              <a:rPr lang="de-DE" dirty="0" smtClean="0"/>
              <a:t>ervice </a:t>
            </a:r>
            <a:r>
              <a:rPr lang="de-DE" dirty="0"/>
              <a:t>(DDS)</a:t>
            </a:r>
            <a:r>
              <a:rPr lang="de-DE" b="1" dirty="0" smtClean="0"/>
              <a:t/>
            </a:r>
            <a:br>
              <a:rPr lang="de-DE" b="1" dirty="0" smtClean="0"/>
            </a:br>
            <a:endParaRPr lang="de-DE" b="1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de-DE" dirty="0" smtClean="0"/>
              <a:t>09.06.2021</a:t>
            </a:r>
          </a:p>
          <a:p>
            <a:pPr algn="r"/>
            <a:r>
              <a:rPr lang="de-DE" dirty="0" smtClean="0"/>
              <a:t>Christian Adolph</a:t>
            </a:r>
          </a:p>
          <a:p>
            <a:pPr algn="r"/>
            <a:r>
              <a:rPr lang="de-DE" dirty="0" smtClean="0"/>
              <a:t>Julian P. Kaatz</a:t>
            </a:r>
          </a:p>
        </p:txBody>
      </p:sp>
    </p:spTree>
    <p:extLst>
      <p:ext uri="{BB962C8B-B14F-4D97-AF65-F5344CB8AC3E}">
        <p14:creationId xmlns:p14="http://schemas.microsoft.com/office/powerpoint/2010/main" val="35251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>
            <a:normAutofit/>
          </a:bodyPr>
          <a:lstStyle/>
          <a:p>
            <a:r>
              <a:rPr lang="de-DE" dirty="0" smtClean="0"/>
              <a:t>Übersicht</a:t>
            </a:r>
          </a:p>
          <a:p>
            <a:r>
              <a:rPr lang="de-DE" dirty="0" smtClean="0"/>
              <a:t>Data </a:t>
            </a:r>
            <a:r>
              <a:rPr lang="de-DE" dirty="0" err="1" smtClean="0"/>
              <a:t>Centric</a:t>
            </a:r>
            <a:r>
              <a:rPr lang="de-DE" dirty="0" smtClean="0"/>
              <a:t> </a:t>
            </a:r>
            <a:r>
              <a:rPr lang="de-DE" dirty="0" err="1" smtClean="0"/>
              <a:t>Architecture</a:t>
            </a:r>
            <a:endParaRPr lang="de-DE" dirty="0"/>
          </a:p>
          <a:p>
            <a:r>
              <a:rPr lang="de-DE" dirty="0" smtClean="0"/>
              <a:t>DDS Konzepte</a:t>
            </a:r>
          </a:p>
          <a:p>
            <a:pPr lvl="1"/>
            <a:r>
              <a:rPr lang="de-DE" dirty="0" smtClean="0"/>
              <a:t>DDS Global Data Space</a:t>
            </a:r>
          </a:p>
          <a:p>
            <a:pPr lvl="1"/>
            <a:r>
              <a:rPr lang="de-DE" dirty="0" smtClean="0"/>
              <a:t>DDS Data Definition</a:t>
            </a:r>
          </a:p>
          <a:p>
            <a:pPr lvl="1"/>
            <a:r>
              <a:rPr lang="de-DE" dirty="0" smtClean="0"/>
              <a:t>DDS Applikation</a:t>
            </a:r>
            <a:endParaRPr lang="de-DE" dirty="0" smtClean="0"/>
          </a:p>
          <a:p>
            <a:pPr lvl="1"/>
            <a:r>
              <a:rPr lang="de-DE" dirty="0" smtClean="0"/>
              <a:t>DDS </a:t>
            </a:r>
            <a:r>
              <a:rPr lang="de-DE" dirty="0" err="1" smtClean="0"/>
              <a:t>QoS</a:t>
            </a:r>
            <a:endParaRPr lang="de-DE" dirty="0"/>
          </a:p>
          <a:p>
            <a:r>
              <a:rPr lang="de-DE" dirty="0" smtClean="0"/>
              <a:t>DDS Interoperabilität</a:t>
            </a:r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1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Data Distribution Service </a:t>
            </a:r>
            <a:r>
              <a:rPr lang="de-DE" dirty="0" err="1" smtClean="0"/>
              <a:t>for</a:t>
            </a:r>
            <a:r>
              <a:rPr lang="de-DE" dirty="0" smtClean="0"/>
              <a:t> Real-Time Systems</a:t>
            </a:r>
          </a:p>
          <a:p>
            <a:pPr lvl="1"/>
            <a:r>
              <a:rPr lang="de-DE" dirty="0" smtClean="0"/>
              <a:t>OMG Standard (</a:t>
            </a:r>
            <a:r>
              <a:rPr lang="de-DE" i="1" dirty="0" smtClean="0"/>
              <a:t>die von </a:t>
            </a:r>
            <a:r>
              <a:rPr lang="de-DE" i="1" dirty="0" smtClean="0"/>
              <a:t>UML</a:t>
            </a:r>
            <a:r>
              <a:rPr lang="de-DE" dirty="0" smtClean="0"/>
              <a:t>)</a:t>
            </a:r>
            <a:endParaRPr lang="de-DE" dirty="0" smtClean="0"/>
          </a:p>
          <a:p>
            <a:r>
              <a:rPr lang="de-DE" dirty="0" smtClean="0"/>
              <a:t>ist eine Middleware (bzw. </a:t>
            </a:r>
            <a:r>
              <a:rPr lang="de-DE" dirty="0"/>
              <a:t>C</a:t>
            </a:r>
            <a:r>
              <a:rPr lang="de-DE" dirty="0" smtClean="0"/>
              <a:t>onnectivity Framework)</a:t>
            </a:r>
          </a:p>
          <a:p>
            <a:pPr lvl="1"/>
            <a:r>
              <a:rPr lang="de-DE" dirty="0" smtClean="0"/>
              <a:t>kennen wir bereits (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nutzt </a:t>
            </a:r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 smtClean="0"/>
          </a:p>
          <a:p>
            <a:pPr lvl="1"/>
            <a:r>
              <a:rPr lang="de-DE" dirty="0" smtClean="0"/>
              <a:t>kennen wir auch schon ( 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b="1" dirty="0" smtClean="0"/>
              <a:t>Data-</a:t>
            </a:r>
            <a:r>
              <a:rPr lang="de-DE" b="1" dirty="0" err="1" smtClean="0"/>
              <a:t>Centric</a:t>
            </a:r>
            <a:r>
              <a:rPr lang="de-DE" b="1" dirty="0" smtClean="0"/>
              <a:t> </a:t>
            </a:r>
            <a:endParaRPr lang="de-DE" b="1" dirty="0" smtClean="0"/>
          </a:p>
          <a:p>
            <a:pPr lvl="1"/>
            <a:r>
              <a:rPr lang="de-DE" b="1" dirty="0"/>
              <a:t>?</a:t>
            </a:r>
            <a:endParaRPr lang="de-DE" dirty="0" smtClean="0"/>
          </a:p>
          <a:p>
            <a:pPr lvl="1"/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3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1301896" y="5343327"/>
            <a:ext cx="667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purpose of the DDS specification can be summarized as </a:t>
            </a:r>
            <a:endParaRPr lang="en-US" i="1" dirty="0" smtClean="0"/>
          </a:p>
          <a:p>
            <a:r>
              <a:rPr lang="en-US" i="1" dirty="0" smtClean="0"/>
              <a:t>enabling </a:t>
            </a:r>
            <a:r>
              <a:rPr lang="en-US" i="1" dirty="0"/>
              <a:t>the Efficient and Robust Delivery of the Right Information to </a:t>
            </a:r>
            <a:endParaRPr lang="en-US" i="1" dirty="0" smtClean="0"/>
          </a:p>
          <a:p>
            <a:r>
              <a:rPr lang="en-US" i="1" dirty="0" smtClean="0"/>
              <a:t>the </a:t>
            </a:r>
            <a:r>
              <a:rPr lang="en-US" i="1" dirty="0"/>
              <a:t>Right Place at the Right Time</a:t>
            </a:r>
            <a:r>
              <a:rPr lang="en-US" dirty="0"/>
              <a:t>"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357" y="1354759"/>
            <a:ext cx="3258005" cy="1419423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8730117" y="2729121"/>
            <a:ext cx="18806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http://www.omg.org/spec/DDS/1.4</a:t>
            </a:r>
          </a:p>
        </p:txBody>
      </p:sp>
    </p:spTree>
    <p:extLst>
      <p:ext uri="{BB962C8B-B14F-4D97-AF65-F5344CB8AC3E}">
        <p14:creationId xmlns:p14="http://schemas.microsoft.com/office/powerpoint/2010/main" val="17421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Evolution Netzwerketopologien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4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962108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Point-</a:t>
            </a:r>
            <a:r>
              <a:rPr lang="de-DE" dirty="0" err="1" smtClean="0"/>
              <a:t>to</a:t>
            </a:r>
            <a:r>
              <a:rPr lang="de-DE" dirty="0" smtClean="0"/>
              <a:t>-Point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3211706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Client-Server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363623" y="2189528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710902" y="2190844"/>
            <a:ext cx="106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Queuing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9591199" y="2191075"/>
            <a:ext cx="137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Data-</a:t>
            </a:r>
            <a:r>
              <a:rPr lang="de-DE" dirty="0" err="1" smtClean="0"/>
              <a:t>Centric</a:t>
            </a:r>
            <a:endParaRPr lang="de-DE" dirty="0"/>
          </a:p>
        </p:txBody>
      </p:sp>
      <p:grpSp>
        <p:nvGrpSpPr>
          <p:cNvPr id="75" name="Gruppieren 74"/>
          <p:cNvGrpSpPr/>
          <p:nvPr/>
        </p:nvGrpSpPr>
        <p:grpSpPr>
          <a:xfrm>
            <a:off x="888277" y="2732392"/>
            <a:ext cx="1605371" cy="1451008"/>
            <a:chOff x="1254035" y="2845609"/>
            <a:chExt cx="1605371" cy="1451008"/>
          </a:xfrm>
        </p:grpSpPr>
        <p:sp>
          <p:nvSpPr>
            <p:cNvPr id="11" name="Ellipse 10"/>
            <p:cNvSpPr/>
            <p:nvPr/>
          </p:nvSpPr>
          <p:spPr>
            <a:xfrm>
              <a:off x="125403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254035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545898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/>
            <p:cNvSpPr/>
            <p:nvPr/>
          </p:nvSpPr>
          <p:spPr>
            <a:xfrm>
              <a:off x="2545898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 Verbindung mit Pfeil 25"/>
            <p:cNvCxnSpPr>
              <a:stCxn id="11" idx="6"/>
              <a:endCxn id="13" idx="2"/>
            </p:cNvCxnSpPr>
            <p:nvPr/>
          </p:nvCxnSpPr>
          <p:spPr>
            <a:xfrm>
              <a:off x="1567543" y="3002363"/>
              <a:ext cx="978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/>
            <p:cNvCxnSpPr>
              <a:stCxn id="11" idx="4"/>
              <a:endCxn id="12" idx="0"/>
            </p:cNvCxnSpPr>
            <p:nvPr/>
          </p:nvCxnSpPr>
          <p:spPr>
            <a:xfrm>
              <a:off x="1410789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/>
            <p:cNvCxnSpPr>
              <a:stCxn id="12" idx="7"/>
              <a:endCxn id="13" idx="3"/>
            </p:cNvCxnSpPr>
            <p:nvPr/>
          </p:nvCxnSpPr>
          <p:spPr>
            <a:xfrm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/>
            <p:cNvCxnSpPr>
              <a:stCxn id="13" idx="4"/>
              <a:endCxn id="24" idx="0"/>
            </p:cNvCxnSpPr>
            <p:nvPr/>
          </p:nvCxnSpPr>
          <p:spPr>
            <a:xfrm>
              <a:off x="2702652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/>
            <p:cNvCxnSpPr>
              <a:stCxn id="24" idx="1"/>
              <a:endCxn id="11" idx="5"/>
            </p:cNvCxnSpPr>
            <p:nvPr/>
          </p:nvCxnSpPr>
          <p:spPr>
            <a:xfrm flipH="1"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hteck 58"/>
            <p:cNvSpPr/>
            <p:nvPr/>
          </p:nvSpPr>
          <p:spPr>
            <a:xfrm>
              <a:off x="2616150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Rechteck 59"/>
            <p:cNvSpPr/>
            <p:nvPr/>
          </p:nvSpPr>
          <p:spPr>
            <a:xfrm>
              <a:off x="1317127" y="29666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08989" y="410538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Rechteck 61"/>
            <p:cNvSpPr/>
            <p:nvPr/>
          </p:nvSpPr>
          <p:spPr>
            <a:xfrm>
              <a:off x="1315858" y="41153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6" name="Gruppieren 75"/>
          <p:cNvGrpSpPr/>
          <p:nvPr/>
        </p:nvGrpSpPr>
        <p:grpSpPr>
          <a:xfrm>
            <a:off x="3208355" y="2863027"/>
            <a:ext cx="1329495" cy="1183412"/>
            <a:chOff x="3556695" y="2845609"/>
            <a:chExt cx="1329495" cy="1183412"/>
          </a:xfrm>
        </p:grpSpPr>
        <p:sp>
          <p:nvSpPr>
            <p:cNvPr id="14" name="Ellipse 13"/>
            <p:cNvSpPr/>
            <p:nvPr/>
          </p:nvSpPr>
          <p:spPr>
            <a:xfrm>
              <a:off x="355669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/>
            <p:cNvSpPr/>
            <p:nvPr/>
          </p:nvSpPr>
          <p:spPr>
            <a:xfrm>
              <a:off x="4572682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3886874" y="3645686"/>
              <a:ext cx="685808" cy="3833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 Verbindung mit Pfeil 35"/>
            <p:cNvCxnSpPr>
              <a:stCxn id="14" idx="5"/>
            </p:cNvCxnSpPr>
            <p:nvPr/>
          </p:nvCxnSpPr>
          <p:spPr>
            <a:xfrm>
              <a:off x="3824291" y="3113205"/>
              <a:ext cx="249089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/>
            <p:cNvCxnSpPr>
              <a:stCxn id="15" idx="3"/>
            </p:cNvCxnSpPr>
            <p:nvPr/>
          </p:nvCxnSpPr>
          <p:spPr>
            <a:xfrm flipH="1">
              <a:off x="4423918" y="3113205"/>
              <a:ext cx="194676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/>
            <p:cNvSpPr/>
            <p:nvPr/>
          </p:nvSpPr>
          <p:spPr>
            <a:xfrm>
              <a:off x="3619786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/>
            <p:cNvSpPr/>
            <p:nvPr/>
          </p:nvSpPr>
          <p:spPr>
            <a:xfrm>
              <a:off x="4635773" y="29595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5525202" y="2880767"/>
            <a:ext cx="1358024" cy="1043676"/>
            <a:chOff x="5829997" y="2793677"/>
            <a:chExt cx="1358024" cy="1043676"/>
          </a:xfrm>
        </p:grpSpPr>
        <p:sp>
          <p:nvSpPr>
            <p:cNvPr id="17" name="Ellipse 16"/>
            <p:cNvSpPr/>
            <p:nvPr/>
          </p:nvSpPr>
          <p:spPr>
            <a:xfrm>
              <a:off x="6375772" y="279367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/>
            <p:cNvSpPr/>
            <p:nvPr/>
          </p:nvSpPr>
          <p:spPr>
            <a:xfrm>
              <a:off x="5829997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/>
            <p:cNvSpPr/>
            <p:nvPr/>
          </p:nvSpPr>
          <p:spPr>
            <a:xfrm>
              <a:off x="6874513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7" name="Gerade Verbindung mit Pfeil 46"/>
            <p:cNvCxnSpPr>
              <a:stCxn id="17" idx="3"/>
              <a:endCxn id="18" idx="7"/>
            </p:cNvCxnSpPr>
            <p:nvPr/>
          </p:nvCxnSpPr>
          <p:spPr>
            <a:xfrm flipH="1">
              <a:off x="6097593" y="3061273"/>
              <a:ext cx="324091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/>
            <p:cNvCxnSpPr>
              <a:stCxn id="17" idx="5"/>
              <a:endCxn id="19" idx="1"/>
            </p:cNvCxnSpPr>
            <p:nvPr/>
          </p:nvCxnSpPr>
          <p:spPr>
            <a:xfrm>
              <a:off x="6643368" y="3061273"/>
              <a:ext cx="277057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hteck 64"/>
            <p:cNvSpPr/>
            <p:nvPr/>
          </p:nvSpPr>
          <p:spPr>
            <a:xfrm>
              <a:off x="6937981" y="36400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Rechteck 65"/>
            <p:cNvSpPr/>
            <p:nvPr/>
          </p:nvSpPr>
          <p:spPr>
            <a:xfrm>
              <a:off x="5893088" y="364076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Rechteck 66"/>
            <p:cNvSpPr/>
            <p:nvPr/>
          </p:nvSpPr>
          <p:spPr>
            <a:xfrm>
              <a:off x="6438863" y="290915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7576924" y="2915595"/>
            <a:ext cx="1300944" cy="929639"/>
            <a:chOff x="7890428" y="2950431"/>
            <a:chExt cx="1300944" cy="929639"/>
          </a:xfrm>
        </p:grpSpPr>
        <p:sp>
          <p:nvSpPr>
            <p:cNvPr id="20" name="Ellipse 19"/>
            <p:cNvSpPr/>
            <p:nvPr/>
          </p:nvSpPr>
          <p:spPr>
            <a:xfrm>
              <a:off x="7900683" y="2950431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/>
            <p:cNvSpPr/>
            <p:nvPr/>
          </p:nvSpPr>
          <p:spPr>
            <a:xfrm>
              <a:off x="7890428" y="3566562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/>
            <p:cNvSpPr/>
            <p:nvPr/>
          </p:nvSpPr>
          <p:spPr>
            <a:xfrm>
              <a:off x="8877864" y="321033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Pfeil nach rechts 49"/>
            <p:cNvSpPr/>
            <p:nvPr/>
          </p:nvSpPr>
          <p:spPr>
            <a:xfrm>
              <a:off x="8498062" y="3296286"/>
              <a:ext cx="191581" cy="14161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 Verbindung mit Pfeil 51"/>
            <p:cNvCxnSpPr>
              <a:stCxn id="50" idx="3"/>
              <a:endCxn id="22" idx="2"/>
            </p:cNvCxnSpPr>
            <p:nvPr/>
          </p:nvCxnSpPr>
          <p:spPr>
            <a:xfrm>
              <a:off x="8689643" y="3367091"/>
              <a:ext cx="1882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/>
            <p:cNvCxnSpPr>
              <a:stCxn id="21" idx="6"/>
              <a:endCxn id="50" idx="1"/>
            </p:cNvCxnSpPr>
            <p:nvPr/>
          </p:nvCxnSpPr>
          <p:spPr>
            <a:xfrm flipV="1">
              <a:off x="8203936" y="3367091"/>
              <a:ext cx="294126" cy="356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/>
            <p:cNvCxnSpPr>
              <a:stCxn id="20" idx="6"/>
              <a:endCxn id="50" idx="1"/>
            </p:cNvCxnSpPr>
            <p:nvPr/>
          </p:nvCxnSpPr>
          <p:spPr>
            <a:xfrm>
              <a:off x="8214191" y="3107185"/>
              <a:ext cx="283871" cy="259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hteck 67"/>
            <p:cNvSpPr/>
            <p:nvPr/>
          </p:nvSpPr>
          <p:spPr>
            <a:xfrm>
              <a:off x="7963774" y="306375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/>
            <p:cNvSpPr/>
            <p:nvPr/>
          </p:nvSpPr>
          <p:spPr>
            <a:xfrm>
              <a:off x="7954716" y="368059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Rechteck 69"/>
            <p:cNvSpPr/>
            <p:nvPr/>
          </p:nvSpPr>
          <p:spPr>
            <a:xfrm>
              <a:off x="8938246" y="332692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9" name="Gruppieren 78"/>
          <p:cNvGrpSpPr/>
          <p:nvPr/>
        </p:nvGrpSpPr>
        <p:grpSpPr>
          <a:xfrm>
            <a:off x="9429117" y="2935980"/>
            <a:ext cx="1711984" cy="872148"/>
            <a:chOff x="9794875" y="3049197"/>
            <a:chExt cx="1711984" cy="872148"/>
          </a:xfrm>
        </p:grpSpPr>
        <p:sp>
          <p:nvSpPr>
            <p:cNvPr id="23" name="Rechteck 22"/>
            <p:cNvSpPr/>
            <p:nvPr/>
          </p:nvSpPr>
          <p:spPr>
            <a:xfrm>
              <a:off x="9990843" y="3049197"/>
              <a:ext cx="1322605" cy="777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smtClean="0"/>
                <a:t>Datenmodell</a:t>
              </a:r>
            </a:p>
            <a:p>
              <a:pPr algn="ctr"/>
              <a:endParaRPr lang="de-DE" sz="1200" dirty="0"/>
            </a:p>
            <a:p>
              <a:pPr algn="ctr"/>
              <a:endParaRPr lang="de-DE" sz="1200" dirty="0" smtClean="0"/>
            </a:p>
            <a:p>
              <a:pPr algn="ctr"/>
              <a:endParaRPr lang="de-DE" sz="1200" dirty="0"/>
            </a:p>
          </p:txBody>
        </p:sp>
        <p:sp>
          <p:nvSpPr>
            <p:cNvPr id="58" name="Pfeil nach links und rechts 57"/>
            <p:cNvSpPr/>
            <p:nvPr/>
          </p:nvSpPr>
          <p:spPr>
            <a:xfrm>
              <a:off x="10179169" y="3536902"/>
              <a:ext cx="945952" cy="158117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800" dirty="0" smtClean="0">
                  <a:solidFill>
                    <a:schemeClr val="tx1"/>
                  </a:solidFill>
                </a:rPr>
                <a:t>BUS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1099980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Rechteck 71"/>
            <p:cNvSpPr/>
            <p:nvPr/>
          </p:nvSpPr>
          <p:spPr>
            <a:xfrm>
              <a:off x="9794875" y="339662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/>
            <p:cNvSpPr/>
            <p:nvPr/>
          </p:nvSpPr>
          <p:spPr>
            <a:xfrm>
              <a:off x="11319534" y="337663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Rechteck 73"/>
            <p:cNvSpPr/>
            <p:nvPr/>
          </p:nvSpPr>
          <p:spPr>
            <a:xfrm>
              <a:off x="1014477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0" name="Textfeld 79"/>
          <p:cNvSpPr txBox="1"/>
          <p:nvPr/>
        </p:nvSpPr>
        <p:spPr>
          <a:xfrm>
            <a:off x="1155873" y="4517316"/>
            <a:ext cx="119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TCP</a:t>
            </a:r>
          </a:p>
          <a:p>
            <a:r>
              <a:rPr lang="de-DE" dirty="0" smtClean="0"/>
              <a:t>Sockets</a:t>
            </a:r>
            <a:endParaRPr lang="de-DE" dirty="0"/>
          </a:p>
        </p:txBody>
      </p:sp>
      <p:sp>
        <p:nvSpPr>
          <p:cNvPr id="81" name="Textfeld 80"/>
          <p:cNvSpPr txBox="1"/>
          <p:nvPr/>
        </p:nvSpPr>
        <p:spPr>
          <a:xfrm>
            <a:off x="3475951" y="4517316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MQTT</a:t>
            </a:r>
          </a:p>
          <a:p>
            <a:r>
              <a:rPr lang="de-DE" dirty="0" smtClean="0"/>
              <a:t>XMPP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CORBA</a:t>
            </a:r>
            <a:endParaRPr lang="de-DE" dirty="0"/>
          </a:p>
        </p:txBody>
      </p:sp>
      <p:sp>
        <p:nvSpPr>
          <p:cNvPr id="82" name="Textfeld 81"/>
          <p:cNvSpPr txBox="1"/>
          <p:nvPr/>
        </p:nvSpPr>
        <p:spPr>
          <a:xfrm>
            <a:off x="5722356" y="4443785"/>
            <a:ext cx="1328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CAN BUS</a:t>
            </a:r>
          </a:p>
          <a:p>
            <a:r>
              <a:rPr lang="de-DE" dirty="0" smtClean="0"/>
              <a:t>SOME/IP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Zero MQ</a:t>
            </a:r>
          </a:p>
          <a:p>
            <a:r>
              <a:rPr lang="de-DE" dirty="0" smtClean="0"/>
              <a:t>JMS</a:t>
            </a:r>
            <a:endParaRPr lang="de-DE" dirty="0"/>
          </a:p>
        </p:txBody>
      </p:sp>
      <p:sp>
        <p:nvSpPr>
          <p:cNvPr id="83" name="Textfeld 82"/>
          <p:cNvSpPr txBox="1"/>
          <p:nvPr/>
        </p:nvSpPr>
        <p:spPr>
          <a:xfrm>
            <a:off x="7776163" y="4427219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NATS.io</a:t>
            </a:r>
          </a:p>
          <a:p>
            <a:r>
              <a:rPr lang="de-DE" dirty="0" smtClean="0"/>
              <a:t>AMQP</a:t>
            </a:r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84" name="Textfeld 83"/>
          <p:cNvSpPr txBox="1"/>
          <p:nvPr/>
        </p:nvSpPr>
        <p:spPr>
          <a:xfrm>
            <a:off x="10010335" y="4425734"/>
            <a:ext cx="93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659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</a:t>
            </a:r>
            <a:r>
              <a:rPr lang="de-DE" b="1" dirty="0" err="1"/>
              <a:t>Centric</a:t>
            </a:r>
            <a:r>
              <a:rPr lang="de-DE" b="1" dirty="0"/>
              <a:t> </a:t>
            </a:r>
            <a:r>
              <a:rPr lang="de-DE" b="1" dirty="0" err="1"/>
              <a:t>Architecture</a:t>
            </a:r>
            <a:endParaRPr lang="de-DE" b="1" dirty="0"/>
          </a:p>
        </p:txBody>
      </p:sp>
      <p:sp>
        <p:nvSpPr>
          <p:cNvPr id="9" name="Inhaltsplatzhalt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Status Quo:</a:t>
            </a:r>
          </a:p>
          <a:p>
            <a:pPr lvl="1"/>
            <a:r>
              <a:rPr lang="de-DE" dirty="0" err="1" smtClean="0"/>
              <a:t>Application</a:t>
            </a:r>
            <a:r>
              <a:rPr lang="de-DE" dirty="0" smtClean="0"/>
              <a:t> </a:t>
            </a:r>
            <a:r>
              <a:rPr lang="de-DE" dirty="0" err="1" smtClean="0"/>
              <a:t>Centricity</a:t>
            </a:r>
            <a:endParaRPr lang="de-DE" dirty="0" smtClean="0"/>
          </a:p>
          <a:p>
            <a:pPr lvl="1"/>
            <a:endParaRPr lang="de-DE" dirty="0"/>
          </a:p>
          <a:p>
            <a:r>
              <a:rPr lang="de-DE" dirty="0" smtClean="0"/>
              <a:t>Ein Datenmodell pro Applikation</a:t>
            </a:r>
          </a:p>
          <a:p>
            <a:pPr lvl="1"/>
            <a:r>
              <a:rPr lang="de-DE" dirty="0" smtClean="0"/>
              <a:t>Code </a:t>
            </a:r>
            <a:r>
              <a:rPr lang="de-DE" dirty="0" smtClean="0">
                <a:sym typeface="Wingdings" panose="05000000000000000000" pitchFamily="2" charset="2"/>
              </a:rPr>
              <a:t> Datenmodell</a:t>
            </a:r>
          </a:p>
          <a:p>
            <a:pPr lvl="1"/>
            <a:r>
              <a:rPr lang="de-DE" dirty="0" smtClean="0">
                <a:sym typeface="Wingdings" panose="05000000000000000000" pitchFamily="2" charset="2"/>
              </a:rPr>
              <a:t>Datenmodell erweitern?</a:t>
            </a:r>
          </a:p>
          <a:p>
            <a:pPr lvl="1"/>
            <a:endParaRPr lang="de-DE" dirty="0">
              <a:sym typeface="Wingdings" panose="05000000000000000000" pitchFamily="2" charset="2"/>
            </a:endParaRPr>
          </a:p>
          <a:p>
            <a:pPr lvl="1"/>
            <a:endParaRPr lang="de-DE" dirty="0" smtClean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Applikationen teuer </a:t>
            </a:r>
            <a:r>
              <a:rPr lang="de-DE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$$$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6019801" cy="4351338"/>
          </a:xfrm>
        </p:spPr>
        <p:txBody>
          <a:bodyPr/>
          <a:lstStyle/>
          <a:p>
            <a:endParaRPr lang="de-DE" dirty="0" smtClean="0"/>
          </a:p>
          <a:p>
            <a:pPr lvl="1"/>
            <a:r>
              <a:rPr lang="de-DE" dirty="0" smtClean="0"/>
              <a:t>Data </a:t>
            </a:r>
            <a:r>
              <a:rPr lang="de-DE" dirty="0" err="1" smtClean="0"/>
              <a:t>Centricity</a:t>
            </a:r>
            <a:endParaRPr lang="de-DE" dirty="0" smtClean="0"/>
          </a:p>
          <a:p>
            <a:pPr lvl="1"/>
            <a:endParaRPr lang="de-DE" dirty="0"/>
          </a:p>
          <a:p>
            <a:r>
              <a:rPr lang="de-DE" dirty="0" smtClean="0"/>
              <a:t>Ein Datenmodell für alle Applikationen</a:t>
            </a:r>
          </a:p>
          <a:p>
            <a:pPr lvl="1"/>
            <a:endParaRPr lang="de-DE" dirty="0"/>
          </a:p>
          <a:p>
            <a:pPr lvl="1"/>
            <a:r>
              <a:rPr lang="de-DE" dirty="0" smtClean="0"/>
              <a:t>Datenmodell beliebig erweiterbar</a:t>
            </a:r>
          </a:p>
          <a:p>
            <a:r>
              <a:rPr lang="de-DE" dirty="0" smtClean="0"/>
              <a:t>Datenmodell enthält Semantik</a:t>
            </a:r>
          </a:p>
          <a:p>
            <a:pPr lvl="1"/>
            <a:r>
              <a:rPr lang="de-DE" dirty="0" smtClean="0">
                <a:sym typeface="Wingdings" panose="05000000000000000000" pitchFamily="2" charset="2"/>
              </a:rPr>
              <a:t> Informationsmodell</a:t>
            </a:r>
          </a:p>
          <a:p>
            <a:r>
              <a:rPr lang="de-DE" dirty="0" smtClean="0">
                <a:sym typeface="Wingdings" panose="05000000000000000000" pitchFamily="2" charset="2"/>
              </a:rPr>
              <a:t>Applikationen beliebig austauschbar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5</a:t>
            </a:fld>
            <a:endParaRPr lang="de-DE"/>
          </a:p>
        </p:txBody>
      </p:sp>
      <p:pic>
        <p:nvPicPr>
          <p:cNvPr id="2052" name="Picture 4" descr="rage comics messages sticker-6 - sad meme face PNG image with transparent  background | TOP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3706954"/>
            <a:ext cx="619125" cy="63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4797867" y="4283246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Bild: </a:t>
            </a:r>
            <a:r>
              <a:rPr lang="de-DE" sz="800" dirty="0" err="1"/>
              <a:t>sad</a:t>
            </a:r>
            <a:r>
              <a:rPr lang="de-DE" sz="800" dirty="0"/>
              <a:t> </a:t>
            </a:r>
            <a:r>
              <a:rPr lang="de-DE" sz="800" dirty="0" err="1"/>
              <a:t>meme</a:t>
            </a:r>
            <a:r>
              <a:rPr lang="de-DE" sz="800" dirty="0"/>
              <a:t> </a:t>
            </a:r>
            <a:r>
              <a:rPr lang="de-DE" sz="800" dirty="0" err="1"/>
              <a:t>face</a:t>
            </a:r>
            <a:endParaRPr lang="de-DE" sz="800" dirty="0"/>
          </a:p>
        </p:txBody>
      </p:sp>
      <p:sp>
        <p:nvSpPr>
          <p:cNvPr id="18" name="Pfeil nach unten 17"/>
          <p:cNvSpPr/>
          <p:nvPr/>
        </p:nvSpPr>
        <p:spPr>
          <a:xfrm>
            <a:off x="2876550" y="2714625"/>
            <a:ext cx="414050" cy="4476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Pfeil nach unten 48"/>
          <p:cNvSpPr/>
          <p:nvPr/>
        </p:nvSpPr>
        <p:spPr>
          <a:xfrm>
            <a:off x="7772400" y="2714624"/>
            <a:ext cx="414050" cy="4476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18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Standard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825624"/>
            <a:ext cx="3276600" cy="29940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 smtClean="0"/>
              <a:t>Core</a:t>
            </a:r>
          </a:p>
          <a:p>
            <a:pPr marL="0" indent="0">
              <a:buNone/>
            </a:pPr>
            <a:r>
              <a:rPr lang="de-DE" dirty="0" smtClean="0"/>
              <a:t>DDS v1.4</a:t>
            </a:r>
          </a:p>
          <a:p>
            <a:pPr marL="0" indent="0">
              <a:buNone/>
            </a:pPr>
            <a:r>
              <a:rPr lang="de-DE" dirty="0" smtClean="0"/>
              <a:t>    DCPS</a:t>
            </a:r>
          </a:p>
          <a:p>
            <a:pPr marL="0" indent="0">
              <a:buNone/>
            </a:pPr>
            <a:r>
              <a:rPr lang="de-DE" dirty="0"/>
              <a:t> </a:t>
            </a:r>
            <a:r>
              <a:rPr lang="de-DE" dirty="0" smtClean="0"/>
              <a:t>   </a:t>
            </a:r>
            <a:r>
              <a:rPr lang="de-DE" dirty="0" smtClean="0">
                <a:solidFill>
                  <a:schemeClr val="bg1">
                    <a:lumMod val="85000"/>
                  </a:schemeClr>
                </a:solidFill>
              </a:rPr>
              <a:t>DLRL</a:t>
            </a:r>
          </a:p>
          <a:p>
            <a:pPr marL="0" indent="0">
              <a:buNone/>
            </a:pPr>
            <a:r>
              <a:rPr lang="de-DE" dirty="0" smtClean="0"/>
              <a:t>DDS-RTPS</a:t>
            </a:r>
            <a:endParaRPr lang="de-DE" dirty="0"/>
          </a:p>
          <a:p>
            <a:pPr marL="0" indent="0">
              <a:buNone/>
            </a:pPr>
            <a:r>
              <a:rPr lang="de-DE" dirty="0" smtClean="0"/>
              <a:t>DDS-</a:t>
            </a:r>
            <a:r>
              <a:rPr lang="de-DE" dirty="0" err="1" smtClean="0"/>
              <a:t>XTypes</a:t>
            </a:r>
            <a:endParaRPr lang="de-DE" dirty="0" smtClean="0"/>
          </a:p>
          <a:p>
            <a:pPr marL="0" indent="0">
              <a:buNone/>
            </a:pPr>
            <a:r>
              <a:rPr lang="de-DE" dirty="0" smtClean="0"/>
              <a:t>DDS-Security</a:t>
            </a:r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6</a:t>
            </a:fld>
            <a:endParaRPr lang="de-DE"/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8686800" y="1978025"/>
            <a:ext cx="2809875" cy="247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600" b="1" dirty="0" smtClean="0"/>
              <a:t>Gateways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dirty="0" smtClean="0"/>
              <a:t>DDS-Web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dirty="0" smtClean="0"/>
              <a:t>DDS-OPCUA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dirty="0" smtClean="0"/>
              <a:t>DDS-XRCE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4057649" y="1978025"/>
            <a:ext cx="4295775" cy="247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600" b="1" dirty="0" err="1" smtClean="0"/>
              <a:t>Mappings</a:t>
            </a:r>
            <a:endParaRPr lang="de-DE" sz="2600" b="1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dirty="0" smtClean="0"/>
              <a:t>IDL4 – ISO/IEC 19516:2020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="1" dirty="0" smtClean="0"/>
              <a:t>APIs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dirty="0" smtClean="0"/>
              <a:t>Java, C++, Python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9628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smtClean="0"/>
              <a:t>Standard </a:t>
            </a:r>
            <a:r>
              <a:rPr lang="de-DE" dirty="0" err="1" smtClean="0"/>
              <a:t>cont</a:t>
            </a:r>
            <a:r>
              <a:rPr lang="de-DE" dirty="0" smtClean="0"/>
              <a:t>.</a:t>
            </a:r>
            <a:endParaRPr lang="de-DE" dirty="0"/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59" y="1825625"/>
            <a:ext cx="4853082" cy="4351338"/>
          </a:xfrm>
        </p:spPr>
      </p:pic>
      <p:sp>
        <p:nvSpPr>
          <p:cNvPr id="7" name="Inhaltsplatzhalt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Sprach-, OS- &amp; HW-unabhängig</a:t>
            </a:r>
          </a:p>
          <a:p>
            <a:pPr lvl="1"/>
            <a:r>
              <a:rPr lang="de-DE" dirty="0" smtClean="0"/>
              <a:t>… Stack</a:t>
            </a:r>
          </a:p>
          <a:p>
            <a:r>
              <a:rPr lang="de-DE" b="1" dirty="0" smtClean="0"/>
              <a:t>DCPS – Low Level API</a:t>
            </a:r>
          </a:p>
          <a:p>
            <a:r>
              <a:rPr lang="de-DE" dirty="0" smtClean="0">
                <a:solidFill>
                  <a:schemeClr val="bg1">
                    <a:lumMod val="85000"/>
                  </a:schemeClr>
                </a:solidFill>
              </a:rPr>
              <a:t>DLRL – High Level API</a:t>
            </a:r>
          </a:p>
          <a:p>
            <a:r>
              <a:rPr lang="de-DE" dirty="0" smtClean="0"/>
              <a:t>Interoperabel</a:t>
            </a:r>
          </a:p>
          <a:p>
            <a:pPr lvl="1"/>
            <a:r>
              <a:rPr lang="de-DE" dirty="0" smtClean="0"/>
              <a:t>später mehr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7</a:t>
            </a:fld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922850" y="6204178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</a:t>
            </a:r>
            <a:r>
              <a:rPr lang="de-DE" sz="800" dirty="0" smtClean="0"/>
              <a:t>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54332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Konzepte – Global Data Space (GDS)</a:t>
            </a:r>
            <a:endParaRPr lang="de-DE" dirty="0"/>
          </a:p>
        </p:txBody>
      </p:sp>
      <p:sp>
        <p:nvSpPr>
          <p:cNvPr id="8" name="Inhaltsplatzhalt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„voll verteilt“</a:t>
            </a:r>
          </a:p>
          <a:p>
            <a:r>
              <a:rPr lang="de-DE" dirty="0" smtClean="0"/>
              <a:t>Applikationen lesen/schreiben autonom &amp; asynchron im GDS</a:t>
            </a:r>
          </a:p>
          <a:p>
            <a:endParaRPr lang="de-DE" dirty="0" smtClean="0"/>
          </a:p>
          <a:p>
            <a:pPr marL="0" indent="0">
              <a:buNone/>
            </a:pPr>
            <a:endParaRPr lang="de-DE" dirty="0" smtClean="0"/>
          </a:p>
          <a:p>
            <a:endParaRPr lang="de-DE" dirty="0"/>
          </a:p>
          <a:p>
            <a:r>
              <a:rPr lang="de-DE" dirty="0"/>
              <a:t>nicht physischer </a:t>
            </a:r>
            <a:r>
              <a:rPr lang="de-DE" dirty="0" smtClean="0"/>
              <a:t>Speicher</a:t>
            </a:r>
            <a:endParaRPr lang="de-DE" dirty="0"/>
          </a:p>
          <a:p>
            <a:pPr lvl="1"/>
            <a:r>
              <a:rPr lang="de-DE" dirty="0" smtClean="0"/>
              <a:t>abstraktes Konzept</a:t>
            </a:r>
            <a:endParaRPr lang="de-DE" dirty="0"/>
          </a:p>
          <a:p>
            <a:endParaRPr lang="de-DE" dirty="0"/>
          </a:p>
        </p:txBody>
      </p:sp>
      <p:pic>
        <p:nvPicPr>
          <p:cNvPr id="10" name="Inhaltsplatzhalt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08549"/>
            <a:ext cx="5181600" cy="4185489"/>
          </a:xfr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8</a:t>
            </a:fld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6285425" y="5878594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</a:t>
            </a:r>
            <a:r>
              <a:rPr lang="de-DE" sz="800" dirty="0" smtClean="0"/>
              <a:t>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9488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DDS Konzepte – Global Data </a:t>
            </a:r>
            <a:r>
              <a:rPr lang="de-DE" dirty="0" smtClean="0"/>
              <a:t>Space </a:t>
            </a:r>
            <a:r>
              <a:rPr lang="de-DE" dirty="0" err="1" smtClean="0"/>
              <a:t>contd</a:t>
            </a:r>
            <a:r>
              <a:rPr lang="de-DE" dirty="0" smtClean="0"/>
              <a:t>.</a:t>
            </a:r>
            <a:endParaRPr lang="de-DE" dirty="0"/>
          </a:p>
        </p:txBody>
      </p:sp>
      <p:pic>
        <p:nvPicPr>
          <p:cNvPr id="10" name="Inhaltsplatzhalter 9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2450" y="2649551"/>
            <a:ext cx="5181600" cy="2932085"/>
          </a:xfrm>
        </p:spPr>
      </p:pic>
      <p:sp>
        <p:nvSpPr>
          <p:cNvPr id="11" name="Inhaltsplatzhalt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sz="2400" b="1" dirty="0" err="1" smtClean="0"/>
              <a:t>Brokerless</a:t>
            </a:r>
            <a:endParaRPr lang="de-DE" sz="2400" b="1" dirty="0" smtClean="0"/>
          </a:p>
          <a:p>
            <a:r>
              <a:rPr lang="de-DE" sz="2400" dirty="0" smtClean="0"/>
              <a:t>Publisher / Subscriber können GDS beitreten oder verlassen</a:t>
            </a:r>
          </a:p>
          <a:p>
            <a:r>
              <a:rPr lang="de-DE" sz="2400" dirty="0" smtClean="0"/>
              <a:t>Publisher / Subscriber spezifizieren Informationen über Topics </a:t>
            </a:r>
          </a:p>
          <a:p>
            <a:r>
              <a:rPr lang="de-DE" sz="2400" dirty="0"/>
              <a:t>Publisher / </a:t>
            </a:r>
            <a:r>
              <a:rPr lang="de-DE" sz="2400" dirty="0" smtClean="0"/>
              <a:t>Subscriber „</a:t>
            </a:r>
            <a:r>
              <a:rPr lang="de-DE" sz="2400" dirty="0" err="1" smtClean="0"/>
              <a:t>progagieren</a:t>
            </a:r>
            <a:r>
              <a:rPr lang="de-DE" sz="2400" dirty="0" smtClean="0"/>
              <a:t>“ ihre Absicht best. Informationen zu produzieren/konsumieren (</a:t>
            </a:r>
            <a:r>
              <a:rPr lang="de-DE" sz="2400" dirty="0" err="1" smtClean="0"/>
              <a:t>subscription</a:t>
            </a:r>
            <a:r>
              <a:rPr lang="de-DE" sz="2400" dirty="0" smtClean="0"/>
              <a:t>)</a:t>
            </a:r>
            <a:endParaRPr lang="de-DE" sz="24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9</a:t>
            </a:fld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552450" y="5581636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</a:t>
            </a:r>
            <a:r>
              <a:rPr lang="de-DE" sz="800" dirty="0" smtClean="0"/>
              <a:t>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33278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DDS Konzepte – </a:t>
            </a:r>
            <a:r>
              <a:rPr lang="de-DE" dirty="0" smtClean="0"/>
              <a:t>Data Definition</a:t>
            </a:r>
            <a:endParaRPr lang="de-DE" dirty="0"/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76" y="1389477"/>
            <a:ext cx="2028824" cy="1674206"/>
          </a:xfr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10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 smtClean="0"/>
              <a:t>Topic</a:t>
            </a:r>
            <a:r>
              <a:rPr lang="de-DE" dirty="0" smtClean="0"/>
              <a:t> </a:t>
            </a:r>
          </a:p>
          <a:p>
            <a:pPr marL="0" indent="0">
              <a:buNone/>
            </a:pPr>
            <a:r>
              <a:rPr lang="de-DE" dirty="0" smtClean="0"/>
              <a:t>Informationseinheit die ausgetauscht wird</a:t>
            </a: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b="1" dirty="0" smtClean="0"/>
              <a:t>Topic Type</a:t>
            </a:r>
          </a:p>
          <a:p>
            <a:pPr marL="0" indent="0">
              <a:buNone/>
            </a:pPr>
            <a:endParaRPr lang="de-DE" b="1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smtClean="0"/>
              <a:t>Topic </a:t>
            </a:r>
            <a:r>
              <a:rPr lang="de-DE" b="1" dirty="0" err="1" smtClean="0"/>
              <a:t>Instances</a:t>
            </a:r>
            <a:endParaRPr lang="de-DE" b="1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smtClean="0"/>
              <a:t>Topic Samples</a:t>
            </a:r>
          </a:p>
          <a:p>
            <a:pPr marL="0" indent="0">
              <a:buNone/>
            </a:pPr>
            <a:r>
              <a:rPr lang="de-DE" dirty="0" smtClean="0"/>
              <a:t>alle über Zeit empfangen Topics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75" y="3107720"/>
            <a:ext cx="2571750" cy="1011115"/>
          </a:xfrm>
          <a:prstGeom prst="rect">
            <a:avLst/>
          </a:prstGeom>
        </p:spPr>
      </p:pic>
      <p:sp>
        <p:nvSpPr>
          <p:cNvPr id="9" name="Textfeld 8"/>
          <p:cNvSpPr txBox="1"/>
          <p:nvPr/>
        </p:nvSpPr>
        <p:spPr>
          <a:xfrm>
            <a:off x="8963025" y="1389477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Bilder: 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91955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DDS Konzepte – </a:t>
            </a:r>
            <a:r>
              <a:rPr lang="de-DE" dirty="0" smtClean="0"/>
              <a:t>Data </a:t>
            </a:r>
            <a:r>
              <a:rPr lang="de-DE" dirty="0" err="1" smtClean="0"/>
              <a:t>Organization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11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smtClean="0"/>
              <a:t>Domain</a:t>
            </a:r>
            <a:endParaRPr lang="de-DE" dirty="0" smtClean="0"/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smtClean="0"/>
              <a:t>Partition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 smtClean="0"/>
              <a:t>unicast</a:t>
            </a:r>
            <a:r>
              <a:rPr lang="de-DE" dirty="0" smtClean="0"/>
              <a:t> </a:t>
            </a:r>
            <a:r>
              <a:rPr lang="de-DE" dirty="0" err="1" smtClean="0"/>
              <a:t>multicast</a:t>
            </a:r>
            <a:endParaRPr lang="de-DE" dirty="0" smtClean="0"/>
          </a:p>
        </p:txBody>
      </p:sp>
      <p:sp>
        <p:nvSpPr>
          <p:cNvPr id="7" name="Inhaltsplatzhalt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 smtClean="0"/>
              <a:t>bild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3881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- </a:t>
            </a:r>
            <a:r>
              <a:rPr lang="en-US" dirty="0" err="1" smtClean="0"/>
              <a:t>Anatomie</a:t>
            </a:r>
            <a:r>
              <a:rPr lang="en-US" dirty="0" smtClean="0"/>
              <a:t> </a:t>
            </a:r>
            <a:r>
              <a:rPr lang="en-US" dirty="0" err="1" smtClean="0"/>
              <a:t>einer</a:t>
            </a:r>
            <a:r>
              <a:rPr lang="en-US" dirty="0" smtClean="0"/>
              <a:t> </a:t>
            </a:r>
            <a:r>
              <a:rPr lang="en-US" dirty="0"/>
              <a:t>DDS </a:t>
            </a:r>
            <a:r>
              <a:rPr lang="en-US" dirty="0" err="1" smtClean="0"/>
              <a:t>Applikation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DataReader</a:t>
            </a:r>
            <a:r>
              <a:rPr lang="de-DE" dirty="0" smtClean="0"/>
              <a:t> (1..*)</a:t>
            </a:r>
          </a:p>
          <a:p>
            <a:pPr lvl="1"/>
            <a:r>
              <a:rPr lang="de-DE" dirty="0" smtClean="0"/>
              <a:t>Subscriber</a:t>
            </a:r>
          </a:p>
          <a:p>
            <a:pPr lvl="1"/>
            <a:r>
              <a:rPr lang="de-DE" dirty="0" smtClean="0"/>
              <a:t>„liest Topics“</a:t>
            </a:r>
          </a:p>
          <a:p>
            <a:pPr lvl="1"/>
            <a:endParaRPr lang="de-DE" dirty="0"/>
          </a:p>
          <a:p>
            <a:r>
              <a:rPr lang="de-DE" dirty="0" err="1" smtClean="0"/>
              <a:t>DataWriter</a:t>
            </a:r>
            <a:r>
              <a:rPr lang="de-DE" dirty="0" smtClean="0"/>
              <a:t> (1..*)</a:t>
            </a:r>
          </a:p>
          <a:p>
            <a:pPr lvl="1"/>
            <a:r>
              <a:rPr lang="de-DE" dirty="0" smtClean="0"/>
              <a:t>Publisher</a:t>
            </a:r>
          </a:p>
          <a:p>
            <a:pPr lvl="1"/>
            <a:r>
              <a:rPr lang="de-DE" dirty="0" smtClean="0"/>
              <a:t>„schreibt Topics“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12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808" y="2006600"/>
            <a:ext cx="6612933" cy="3062659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5552000" y="5169727"/>
            <a:ext cx="17027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Bild: </a:t>
            </a:r>
            <a:r>
              <a:rPr lang="de-DE" sz="800" dirty="0" smtClean="0"/>
              <a:t>Angelo </a:t>
            </a:r>
            <a:r>
              <a:rPr lang="de-DE" sz="800" dirty="0" err="1" smtClean="0"/>
              <a:t>Corsaro</a:t>
            </a:r>
            <a:r>
              <a:rPr lang="de-DE" sz="800" dirty="0" smtClean="0"/>
              <a:t>, prismtech.com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3247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err="1" smtClean="0"/>
              <a:t>QoS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History</a:t>
            </a:r>
            <a:endParaRPr lang="de-DE" dirty="0" smtClean="0"/>
          </a:p>
          <a:p>
            <a:r>
              <a:rPr lang="de-DE" dirty="0" smtClean="0"/>
              <a:t>Discovery</a:t>
            </a:r>
          </a:p>
          <a:p>
            <a:r>
              <a:rPr lang="de-DE" dirty="0" err="1" smtClean="0"/>
              <a:t>Reliable</a:t>
            </a:r>
            <a:r>
              <a:rPr lang="de-DE" dirty="0" smtClean="0"/>
              <a:t> Data</a:t>
            </a:r>
          </a:p>
          <a:p>
            <a:r>
              <a:rPr lang="de-DE" dirty="0" smtClean="0"/>
              <a:t>Filter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11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Interoperabilität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ROS2 vor allem -&gt; Autonome Systeme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95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Vielen Dank für die Aufmerksamkeit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3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Quellen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OMG </a:t>
            </a:r>
            <a:r>
              <a:rPr lang="de-DE" dirty="0" smtClean="0"/>
              <a:t>Data </a:t>
            </a:r>
            <a:r>
              <a:rPr lang="de-DE" dirty="0"/>
              <a:t>Distribution Service Version </a:t>
            </a:r>
            <a:r>
              <a:rPr lang="de-DE" dirty="0" smtClean="0"/>
              <a:t>1.4</a:t>
            </a:r>
          </a:p>
          <a:p>
            <a:pPr lvl="1"/>
            <a:r>
              <a:rPr lang="de-DE" dirty="0"/>
              <a:t>https://www.omg.org/spec/DDS/1.4/About-DDS/</a:t>
            </a:r>
            <a:endParaRPr lang="de-DE" dirty="0" smtClean="0"/>
          </a:p>
          <a:p>
            <a:r>
              <a:rPr lang="de-DE" dirty="0" smtClean="0"/>
              <a:t>DDS </a:t>
            </a:r>
            <a:r>
              <a:rPr lang="de-DE" dirty="0" err="1" smtClean="0"/>
              <a:t>Foundation</a:t>
            </a:r>
            <a:endParaRPr lang="de-DE" dirty="0"/>
          </a:p>
          <a:p>
            <a:pPr lvl="1"/>
            <a:r>
              <a:rPr lang="de-DE" dirty="0"/>
              <a:t>https://www.dds-foundation.org/omg-dds-standard/</a:t>
            </a:r>
            <a:endParaRPr lang="de-DE" dirty="0" smtClean="0"/>
          </a:p>
          <a:p>
            <a:endParaRPr lang="de-DE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8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569</Words>
  <Application>Microsoft Office PowerPoint</Application>
  <PresentationFormat>Breitbild</PresentationFormat>
  <Paragraphs>180</Paragraphs>
  <Slides>16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</vt:lpstr>
      <vt:lpstr>Data Distribution Service (DDS) </vt:lpstr>
      <vt:lpstr>Agenda</vt:lpstr>
      <vt:lpstr>Übersicht</vt:lpstr>
      <vt:lpstr>Evolution Netzwerketopologien</vt:lpstr>
      <vt:lpstr>Data Centric Architecture</vt:lpstr>
      <vt:lpstr>DDS Standard</vt:lpstr>
      <vt:lpstr>DDS Standard cont.</vt:lpstr>
      <vt:lpstr>DDS Konzepte – Global Data Space (GDS)</vt:lpstr>
      <vt:lpstr>DDS Konzepte – Global Data Space contd.</vt:lpstr>
      <vt:lpstr>DDS Konzepte – Data Definition</vt:lpstr>
      <vt:lpstr>DDS Konzepte – Data Organization</vt:lpstr>
      <vt:lpstr>DDS - Anatomie einer DDS Applikation</vt:lpstr>
      <vt:lpstr>DDS QoS</vt:lpstr>
      <vt:lpstr>DDS Interoperabilität</vt:lpstr>
      <vt:lpstr>Vielen Dank für die Aufmerksamkeit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in der Industrie 4.0</dc:title>
  <dc:creator>cka</dc:creator>
  <cp:lastModifiedBy>cka</cp:lastModifiedBy>
  <cp:revision>88</cp:revision>
  <dcterms:created xsi:type="dcterms:W3CDTF">2021-05-09T16:56:35Z</dcterms:created>
  <dcterms:modified xsi:type="dcterms:W3CDTF">2021-06-08T17:02:00Z</dcterms:modified>
</cp:coreProperties>
</file>