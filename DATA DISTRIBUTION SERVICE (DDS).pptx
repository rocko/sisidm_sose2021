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63" r:id="rId6"/>
    <p:sldId id="262" r:id="rId7"/>
    <p:sldId id="261" r:id="rId8"/>
    <p:sldId id="260" r:id="rId9"/>
    <p:sldId id="25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F00"/>
    <a:srgbClr val="003778"/>
    <a:srgbClr val="94D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228" y="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5117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696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157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39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60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68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0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309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13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2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243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73A7-2528-450D-A36E-ABC4463676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526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000126"/>
            <a:ext cx="9144000" cy="3047998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048124"/>
            <a:ext cx="9144000" cy="20859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71525" y="6913559"/>
            <a:ext cx="2743200" cy="365125"/>
          </a:xfrm>
        </p:spPr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171950" y="6913559"/>
            <a:ext cx="4114800" cy="36512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72525" y="6889747"/>
            <a:ext cx="2743200" cy="206375"/>
          </a:xfrm>
        </p:spPr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788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478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549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87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4030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3770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835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727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220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2903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74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" y="6564702"/>
            <a:ext cx="12192000" cy="293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" y="1"/>
            <a:ext cx="9801224" cy="715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019175"/>
            <a:ext cx="10515600" cy="5157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Formatvorlagen des Textmasters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564702"/>
            <a:ext cx="2743200" cy="293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8540-989B-4DBC-9764-4164800670D6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564702"/>
            <a:ext cx="4114800" cy="293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564702"/>
            <a:ext cx="2743200" cy="293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B73A7-2528-450D-A36E-ABC446367657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Rechteck 7"/>
          <p:cNvSpPr/>
          <p:nvPr userDrawn="1"/>
        </p:nvSpPr>
        <p:spPr>
          <a:xfrm>
            <a:off x="1" y="0"/>
            <a:ext cx="9801224" cy="715992"/>
          </a:xfrm>
          <a:prstGeom prst="rect">
            <a:avLst/>
          </a:prstGeom>
          <a:solidFill>
            <a:srgbClr val="94D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 userDrawn="1"/>
        </p:nvSpPr>
        <p:spPr>
          <a:xfrm>
            <a:off x="9801225" y="0"/>
            <a:ext cx="2390776" cy="715992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25" y="135461"/>
            <a:ext cx="2048911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70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-1"/>
            <a:ext cx="12192001" cy="1001713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0" y="1001712"/>
            <a:ext cx="12191999" cy="3046413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3046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4048125"/>
            <a:ext cx="10515600" cy="2128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Formatvorlagen des Textmasters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7C7F0-EBB9-4160-94EB-4F58DFEDCA29}" type="datetimeFigureOut">
              <a:rPr lang="de-DE" smtClean="0"/>
              <a:t>09.04.2021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21401-8684-43C9-910B-779394F10E7D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149" y="135460"/>
            <a:ext cx="3257688" cy="6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.adolph@ostfalia.de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tik-aktuell.de/betrieb/netzwerke/" TargetMode="External"/><Relationship Id="rId2" Type="http://schemas.openxmlformats.org/officeDocument/2006/relationships/hyperlink" Target="http://www.omg.org/spec/DDS/1.4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omg.org/spec/DDS/1.4/#document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Verteiltes_System" TargetMode="External"/><Relationship Id="rId2" Type="http://schemas.openxmlformats.org/officeDocument/2006/relationships/hyperlink" Target="https://de.wikipedia.org/wiki/Middleware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Schnittstellenbeschreibungssprache" TargetMode="External"/><Relationship Id="rId2" Type="http://schemas.openxmlformats.org/officeDocument/2006/relationships/hyperlink" Target="https://de.wikipedia.org/wiki/Datentyp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e.wikipedia.org/wiki/Multicast" TargetMode="External"/><Relationship Id="rId4" Type="http://schemas.openxmlformats.org/officeDocument/2006/relationships/hyperlink" Target="https://de.wikipedia.org/wiki/Quality_of_Servi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ciweb.com/products/dds" TargetMode="External"/><Relationship Id="rId2" Type="http://schemas.openxmlformats.org/officeDocument/2006/relationships/hyperlink" Target="http://opendds.sourceforge.net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design.ros2.org/articles/ros_on_dds.html" TargetMode="External"/><Relationship Id="rId5" Type="http://schemas.openxmlformats.org/officeDocument/2006/relationships/hyperlink" Target="http://www.beedds.com/en/index.html" TargetMode="External"/><Relationship Id="rId4" Type="http://schemas.openxmlformats.org/officeDocument/2006/relationships/hyperlink" Target="http://www.rti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 cap="all" dirty="0"/>
              <a:t>DATA DISTRIBUTION SERVICE (DDS</a:t>
            </a:r>
            <a:r>
              <a:rPr lang="de-DE" b="1" cap="all" dirty="0" smtClean="0"/>
              <a:t>)</a:t>
            </a:r>
            <a:endParaRPr lang="de-DE" dirty="0"/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de-DE" dirty="0" smtClean="0"/>
          </a:p>
          <a:p>
            <a:pPr algn="r"/>
            <a:r>
              <a:rPr lang="de-DE" dirty="0" smtClean="0"/>
              <a:t>Julian P. Kaatz – j.kaatz@ostfalia.de</a:t>
            </a:r>
          </a:p>
          <a:p>
            <a:pPr algn="r"/>
            <a:r>
              <a:rPr lang="de-DE" dirty="0" smtClean="0"/>
              <a:t>Christian K. Adolph – </a:t>
            </a:r>
            <a:r>
              <a:rPr lang="de-DE" dirty="0" smtClean="0">
                <a:hlinkClick r:id="rId2"/>
              </a:rPr>
              <a:t>c.adolph@ostfalia.de</a:t>
            </a:r>
            <a:endParaRPr lang="de-DE" dirty="0" smtClean="0"/>
          </a:p>
          <a:p>
            <a:pPr algn="r"/>
            <a:r>
              <a:rPr lang="de-DE" dirty="0" smtClean="0"/>
              <a:t>dd.mm.2021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92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DDS Übersicht</a:t>
            </a:r>
          </a:p>
          <a:p>
            <a:r>
              <a:rPr lang="de-DE" dirty="0" smtClean="0"/>
              <a:t>DDS Fotzen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Darkroom</a:t>
            </a:r>
            <a:endParaRPr lang="de-DE" dirty="0" smtClean="0"/>
          </a:p>
          <a:p>
            <a:r>
              <a:rPr lang="de-DE" dirty="0" smtClean="0"/>
              <a:t>DDS Bahnhofsstrich</a:t>
            </a:r>
          </a:p>
          <a:p>
            <a:r>
              <a:rPr lang="de-DE" dirty="0" smtClean="0"/>
              <a:t>DDS benutzte Einwegspritzen</a:t>
            </a:r>
          </a:p>
          <a:p>
            <a:r>
              <a:rPr lang="de-DE" dirty="0" smtClean="0"/>
              <a:t>DDS Einsamkeit</a:t>
            </a:r>
          </a:p>
          <a:p>
            <a:r>
              <a:rPr lang="de-DE" dirty="0" smtClean="0"/>
              <a:t>DDS Lustiges zum Nachmachen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303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019175"/>
            <a:ext cx="10515600" cy="85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“</a:t>
            </a:r>
            <a:r>
              <a:rPr lang="en-US" i="1" dirty="0" smtClean="0"/>
              <a:t>Efficient </a:t>
            </a:r>
            <a:r>
              <a:rPr lang="en-US" i="1" dirty="0"/>
              <a:t>and Robust Delivery of the Right Information to the Right Place at the Right </a:t>
            </a:r>
            <a:r>
              <a:rPr lang="en-US" i="1" dirty="0" smtClean="0"/>
              <a:t>Time</a:t>
            </a:r>
            <a:r>
              <a:rPr lang="en-US" dirty="0" smtClean="0"/>
              <a:t>”</a:t>
            </a:r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4374727" y="1737925"/>
            <a:ext cx="3442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hlinkClick r:id="rId2" tooltip="OMG Data Distribution Service™, V1.4 (April 2015)"/>
              </a:rPr>
              <a:t>OMG Data Distribution Service™, V1.4 </a:t>
            </a:r>
            <a:r>
              <a:rPr lang="de-DE" sz="1200" dirty="0" smtClean="0">
                <a:hlinkClick r:id="rId2" tooltip="OMG Data Distribution Service™, V1.4 (April 2015)"/>
              </a:rPr>
              <a:t>(March </a:t>
            </a:r>
            <a:r>
              <a:rPr lang="de-DE" sz="1200" dirty="0">
                <a:hlinkClick r:id="rId2" tooltip="OMG Data Distribution Service™, V1.4 (April 2015)"/>
              </a:rPr>
              <a:t>2015</a:t>
            </a:r>
            <a:r>
              <a:rPr lang="de-DE" sz="1200" dirty="0" smtClean="0">
                <a:hlinkClick r:id="rId2" tooltip="OMG Data Distribution Service™, V1.4 (April 2015)"/>
              </a:rPr>
              <a:t>)</a:t>
            </a:r>
            <a:endParaRPr lang="de-DE" sz="1200" dirty="0"/>
          </a:p>
        </p:txBody>
      </p:sp>
      <p:sp>
        <p:nvSpPr>
          <p:cNvPr id="5" name="Textfeld 4"/>
          <p:cNvSpPr txBox="1"/>
          <p:nvPr/>
        </p:nvSpPr>
        <p:spPr>
          <a:xfrm>
            <a:off x="0" y="3638550"/>
            <a:ext cx="77758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hlinkClick r:id="rId3"/>
              </a:rPr>
              <a:t>https://www.informatik-aktuell.de/betrieb/netzwerke/</a:t>
            </a:r>
            <a:endParaRPr lang="de-DE" dirty="0" smtClean="0"/>
          </a:p>
          <a:p>
            <a:r>
              <a:rPr lang="de-DE" dirty="0" smtClean="0"/>
              <a:t>zuverlaessige-datenkommunikation-im-industrial-internet-of-things-mit-dds.html</a:t>
            </a:r>
          </a:p>
          <a:p>
            <a:endParaRPr lang="de-DE" dirty="0" smtClean="0"/>
          </a:p>
          <a:p>
            <a:endParaRPr lang="de-DE" dirty="0"/>
          </a:p>
          <a:p>
            <a:endParaRPr lang="de-DE" dirty="0" smtClean="0"/>
          </a:p>
          <a:p>
            <a:r>
              <a:rPr lang="de-DE" dirty="0" smtClean="0">
                <a:hlinkClick r:id="rId4"/>
              </a:rPr>
              <a:t>https://www.omg.org/spec/DDS/1.4/#documents</a:t>
            </a:r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82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Überblick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DDS stellt eine </a:t>
            </a:r>
            <a:r>
              <a:rPr lang="de-DE" dirty="0">
                <a:hlinkClick r:id="rId2" tooltip="Middleware"/>
              </a:rPr>
              <a:t>Middleware</a:t>
            </a:r>
            <a:r>
              <a:rPr lang="de-DE" dirty="0"/>
              <a:t> zur datenzentrierten Kommunikation in hochdynamischen </a:t>
            </a:r>
            <a:r>
              <a:rPr lang="de-DE" dirty="0">
                <a:hlinkClick r:id="rId3" tooltip="Verteiltes System"/>
              </a:rPr>
              <a:t>Verteilten Systemen</a:t>
            </a:r>
            <a:r>
              <a:rPr lang="de-DE" dirty="0"/>
              <a:t> dar. Zugrunde liegt ein Publisher-Subscriber-Konzept, das deterministische Ressourcenverwaltung unterstützt.</a:t>
            </a:r>
          </a:p>
          <a:p>
            <a:r>
              <a:rPr lang="de-DE" dirty="0"/>
              <a:t>Die Spezifikation unterteilt sich in zwei Bereiche:</a:t>
            </a:r>
          </a:p>
          <a:p>
            <a:r>
              <a:rPr lang="de-DE" dirty="0"/>
              <a:t>Data-</a:t>
            </a:r>
            <a:r>
              <a:rPr lang="de-DE" dirty="0" err="1"/>
              <a:t>Centric</a:t>
            </a:r>
            <a:r>
              <a:rPr lang="de-DE" dirty="0"/>
              <a:t> </a:t>
            </a:r>
            <a:r>
              <a:rPr lang="de-DE" dirty="0" err="1"/>
              <a:t>Publish-Subscribe</a:t>
            </a:r>
            <a:r>
              <a:rPr lang="de-DE" dirty="0"/>
              <a:t> (DCPS) beschreibt die grundlegenden Konzepte zur Datenverteilung</a:t>
            </a:r>
          </a:p>
          <a:p>
            <a:r>
              <a:rPr lang="de-DE" dirty="0"/>
              <a:t>Data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Reconstruction</a:t>
            </a:r>
            <a:r>
              <a:rPr lang="de-DE" dirty="0"/>
              <a:t> Layer (DLRL) stellt eine Abstraktionsschicht für Anwendungen auf Basis von DCPS zur Verfügung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311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Konzepte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Die DDS-Spezifikation enthält folgende Kernkonzepte:</a:t>
            </a:r>
          </a:p>
          <a:p>
            <a:r>
              <a:rPr lang="de-DE" dirty="0"/>
              <a:t>Ein </a:t>
            </a:r>
            <a:r>
              <a:rPr lang="de-DE" i="1" dirty="0"/>
              <a:t>Topic</a:t>
            </a:r>
            <a:r>
              <a:rPr lang="de-DE" dirty="0"/>
              <a:t> ist ein anwendungsspezifischer </a:t>
            </a:r>
            <a:r>
              <a:rPr lang="de-DE" dirty="0">
                <a:hlinkClick r:id="rId2" tooltip="Datentyp"/>
              </a:rPr>
              <a:t>Datentyp</a:t>
            </a:r>
            <a:r>
              <a:rPr lang="de-DE" dirty="0"/>
              <a:t> (bspw. in </a:t>
            </a:r>
            <a:r>
              <a:rPr lang="de-DE" dirty="0">
                <a:hlinkClick r:id="rId3" tooltip="Schnittstellenbeschreibungssprache"/>
              </a:rPr>
              <a:t>IDL</a:t>
            </a:r>
            <a:r>
              <a:rPr lang="de-DE" dirty="0"/>
              <a:t> definiert), der festlegt, welche Art von Informationen ein DDS-Paket enthält.</a:t>
            </a:r>
          </a:p>
          <a:p>
            <a:r>
              <a:rPr lang="de-DE" dirty="0"/>
              <a:t>Eine </a:t>
            </a:r>
            <a:r>
              <a:rPr lang="de-DE" i="1" dirty="0"/>
              <a:t>Domain</a:t>
            </a:r>
            <a:r>
              <a:rPr lang="de-DE" dirty="0"/>
              <a:t> dient zur logischen Gliederung und enthält eine Menge von Topics.</a:t>
            </a:r>
          </a:p>
          <a:p>
            <a:r>
              <a:rPr lang="de-DE" dirty="0"/>
              <a:t>Ein </a:t>
            </a:r>
            <a:r>
              <a:rPr lang="de-DE" i="1" dirty="0"/>
              <a:t>Publisher</a:t>
            </a:r>
            <a:r>
              <a:rPr lang="de-DE" dirty="0"/>
              <a:t> ist ein Teilnehmer im DDS-System, der Daten (Topics) zur Verfügung stellt.</a:t>
            </a:r>
          </a:p>
          <a:p>
            <a:r>
              <a:rPr lang="de-DE" dirty="0"/>
              <a:t>Ein </a:t>
            </a:r>
            <a:r>
              <a:rPr lang="de-DE" i="1" dirty="0"/>
              <a:t>Subscriber</a:t>
            </a:r>
            <a:r>
              <a:rPr lang="de-DE" dirty="0"/>
              <a:t> ist ein Teilnehmer im DDS-System, der Empfänger für bestimmte Daten (Topics) ist.</a:t>
            </a:r>
          </a:p>
          <a:p>
            <a:r>
              <a:rPr lang="de-DE" dirty="0"/>
              <a:t>Mithilfe von </a:t>
            </a:r>
            <a:r>
              <a:rPr lang="de-DE" dirty="0">
                <a:hlinkClick r:id="rId4" tooltip="Quality of Service"/>
              </a:rPr>
              <a:t>Quality-</a:t>
            </a:r>
            <a:r>
              <a:rPr lang="de-DE" dirty="0" err="1">
                <a:hlinkClick r:id="rId4" tooltip="Quality of Service"/>
              </a:rPr>
              <a:t>of</a:t>
            </a:r>
            <a:r>
              <a:rPr lang="de-DE" dirty="0">
                <a:hlinkClick r:id="rId4" tooltip="Quality of Service"/>
              </a:rPr>
              <a:t>-Service</a:t>
            </a:r>
            <a:r>
              <a:rPr lang="de-DE" dirty="0"/>
              <a:t>-Parametern kann ein </a:t>
            </a:r>
            <a:r>
              <a:rPr lang="de-DE" i="1" dirty="0"/>
              <a:t>Subscriber</a:t>
            </a:r>
            <a:r>
              <a:rPr lang="de-DE" dirty="0"/>
              <a:t> seine Anforderungen an die Qualität der Datenübertragung deklarativ festlegen. Außerdem kann er Filter anlegen, um zum Beispiel nur Daten in einem bestimmten Wertebereich des Topics zu empfangen.</a:t>
            </a:r>
          </a:p>
          <a:p>
            <a:r>
              <a:rPr lang="de-DE" dirty="0"/>
              <a:t>Je nach Implementierung finden sich die Komponenten (Publisher und Subscriber) selbst (zum Beispiel RTI) oder mittels eines zentralen Servers (zum Beispiel Interface Repository beim TAO). Der Vorgang des gegenseitigen Auffindens wird </a:t>
            </a:r>
            <a:r>
              <a:rPr lang="de-DE" i="1" dirty="0"/>
              <a:t>Discovery</a:t>
            </a:r>
            <a:r>
              <a:rPr lang="de-DE" dirty="0"/>
              <a:t> genannt. Das Discovery ohne zentralen Server wird zum Beispiel via </a:t>
            </a:r>
            <a:r>
              <a:rPr lang="de-DE" dirty="0">
                <a:hlinkClick r:id="rId5" tooltip="Multicast"/>
              </a:rPr>
              <a:t>Multicast</a:t>
            </a:r>
            <a:r>
              <a:rPr lang="de-DE" dirty="0"/>
              <a:t> realisiert.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411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hlinkClick r:id="rId2"/>
              </a:rPr>
              <a:t>OpenDDS</a:t>
            </a:r>
            <a:endParaRPr lang="de-DE" dirty="0"/>
          </a:p>
          <a:p>
            <a:r>
              <a:rPr lang="de-DE" dirty="0">
                <a:hlinkClick r:id="rId3"/>
              </a:rPr>
              <a:t>DDS </a:t>
            </a:r>
            <a:r>
              <a:rPr lang="de-DE" dirty="0" err="1">
                <a:hlinkClick r:id="rId3"/>
              </a:rPr>
              <a:t>for</a:t>
            </a:r>
            <a:r>
              <a:rPr lang="de-DE" dirty="0">
                <a:hlinkClick r:id="rId3"/>
              </a:rPr>
              <a:t> TAO</a:t>
            </a:r>
            <a:endParaRPr lang="de-DE" dirty="0"/>
          </a:p>
          <a:p>
            <a:r>
              <a:rPr lang="de-DE" dirty="0">
                <a:hlinkClick r:id="rId4"/>
              </a:rPr>
              <a:t>RTI Data Distribution Service</a:t>
            </a:r>
            <a:r>
              <a:rPr lang="de-DE" dirty="0"/>
              <a:t> (vormals NDDS, kommerzielle Implementierung des DDS-Standards)</a:t>
            </a:r>
          </a:p>
          <a:p>
            <a:r>
              <a:rPr lang="de-DE" dirty="0">
                <a:hlinkClick r:id="rId5"/>
              </a:rPr>
              <a:t>BEE DDS</a:t>
            </a:r>
            <a:endParaRPr lang="de-DE" dirty="0"/>
          </a:p>
          <a:p>
            <a:r>
              <a:rPr lang="de-DE" dirty="0">
                <a:hlinkClick r:id="rId6"/>
              </a:rPr>
              <a:t>DDS </a:t>
            </a:r>
            <a:r>
              <a:rPr lang="de-DE" dirty="0" err="1">
                <a:hlinkClick r:id="rId6"/>
              </a:rPr>
              <a:t>for</a:t>
            </a:r>
            <a:r>
              <a:rPr lang="de-DE" dirty="0">
                <a:hlinkClick r:id="rId6"/>
              </a:rPr>
              <a:t> ROS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029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266949"/>
            <a:ext cx="10515600" cy="39100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5400" dirty="0" err="1" smtClean="0"/>
              <a:t>That‘s</a:t>
            </a:r>
            <a:r>
              <a:rPr lang="de-DE" sz="5400" dirty="0" smtClean="0"/>
              <a:t> </a:t>
            </a:r>
            <a:r>
              <a:rPr lang="de-DE" sz="5400" dirty="0" err="1" smtClean="0"/>
              <a:t>it</a:t>
            </a:r>
            <a:endParaRPr lang="de-DE" sz="5400" dirty="0" smtClean="0"/>
          </a:p>
          <a:p>
            <a:pPr marL="0" indent="0" algn="ctr">
              <a:buNone/>
            </a:pPr>
            <a:endParaRPr lang="de-DE" sz="5400" dirty="0"/>
          </a:p>
          <a:p>
            <a:pPr marL="0" indent="0" algn="ctr">
              <a:buNone/>
            </a:pPr>
            <a:r>
              <a:rPr lang="de-DE" sz="4400" dirty="0" smtClean="0"/>
              <a:t>Vielen Dank für die Aufmerksamkeit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149455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Literatur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Data Distribution Service (DDS),  https://www.omg.org/spec/DDS/1.4/PDF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701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Breitbild</PresentationFormat>
  <Paragraphs>44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Benutzerdefiniertes Design</vt:lpstr>
      <vt:lpstr>DATA DISTRIBUTION SERVICE (DDS)</vt:lpstr>
      <vt:lpstr>Agenda</vt:lpstr>
      <vt:lpstr>PowerPoint-Präsentation</vt:lpstr>
      <vt:lpstr>Überblick</vt:lpstr>
      <vt:lpstr>Konzepte</vt:lpstr>
      <vt:lpstr>PowerPoint-Präsentation</vt:lpstr>
      <vt:lpstr>PowerPoint-Präsentation</vt:lpstr>
      <vt:lpstr>Literatur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cka</dc:creator>
  <cp:lastModifiedBy>cka</cp:lastModifiedBy>
  <cp:revision>7</cp:revision>
  <dcterms:created xsi:type="dcterms:W3CDTF">2021-04-09T11:31:00Z</dcterms:created>
  <dcterms:modified xsi:type="dcterms:W3CDTF">2021-04-09T12:13:51Z</dcterms:modified>
</cp:coreProperties>
</file>